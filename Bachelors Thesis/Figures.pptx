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7" r:id="rId2"/>
    <p:sldId id="258" r:id="rId3"/>
    <p:sldId id="259" r:id="rId4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56" autoAdjust="0"/>
    <p:restoredTop sz="94656"/>
  </p:normalViewPr>
  <p:slideViewPr>
    <p:cSldViewPr snapToGrid="0">
      <p:cViewPr>
        <p:scale>
          <a:sx n="225" d="100"/>
          <a:sy n="225" d="100"/>
        </p:scale>
        <p:origin x="-1520" y="-2040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609ECD3-344E-4D1C-BE48-BEBFC5019864}" authorId="{3684BC72-40D7-8E22-33F5-507B15B318F1}" created="2025-02-19T05:25:33.7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spMk id="9" creationId="{99A49F8E-FAE3-DBE1-F601-87D595B75729}"/>
    </ac:deMkLst>
    <p188:replyLst>
      <p188:reply id="{1752C9AF-DF0B-484D-A3E6-031480F118B5}" authorId="{3684BC72-40D7-8E22-33F5-507B15B318F1}" created="2025-02-22T16:28:58.312">
        <p188:txBody>
          <a:bodyPr/>
          <a:lstStyle/>
          <a:p>
            <a:r>
              <a:rPr lang="en-US"/>
              <a:t>Also add extra and oxtrb they are actually interesting, also move acetylcholine</a:t>
            </a:r>
          </a:p>
        </p188:txBody>
      </p188:reply>
    </p188:replyLst>
    <p188:txBody>
      <a:bodyPr/>
      <a:lstStyle/>
      <a:p>
        <a:r>
          <a:rPr lang="en-US"/>
          <a:t>Man I didn’t include the hmx genes in this plot...</a:t>
        </a:r>
      </a:p>
    </p188:txBody>
  </p188:cm>
  <p188:cm id="{613C1878-8624-5D46-B8B3-2DB611CD79DB}" authorId="{3684BC72-40D7-8E22-33F5-507B15B318F1}" created="2025-02-20T16:17:56.15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81" creationId="{A9E79937-C4A0-6596-DD39-F3EEF2A48069}"/>
    </ac:deMkLst>
    <p188:replyLst>
      <p188:reply id="{4F7282FD-A696-B540-9CB6-B1A6F55AC953}" authorId="{3684BC72-40D7-8E22-33F5-507B15B318F1}" created="2025-02-20T16:53:05.758">
        <p188:txBody>
          <a:bodyPr/>
          <a:lstStyle/>
          <a:p>
            <a:r>
              <a:rPr lang="en-US"/>
              <a:t>Corrected matrix for library size</a:t>
            </a:r>
          </a:p>
        </p188:txBody>
      </p188:reply>
      <p188:reply id="{C4B6930F-38FA-5B47-BB2E-CB40CEF2B368}" authorId="{3684BC72-40D7-8E22-33F5-507B15B318F1}" created="2025-02-20T16:54:26.992">
        <p188:txBody>
          <a:bodyPr/>
          <a:lstStyle/>
          <a:p>
            <a:r>
              <a:rPr lang="en-US"/>
              <a:t>Also expression threshold</a:t>
            </a:r>
          </a:p>
        </p188:txBody>
      </p188:reply>
      <p188:reply id="{2C4A81D9-68D8-1941-A35C-FE8C94F5E55D}" authorId="{3684BC72-40D7-8E22-33F5-507B15B318F1}" created="2025-02-20T16:55:29.392">
        <p188:txBody>
          <a:bodyPr/>
          <a:lstStyle/>
          <a:p>
            <a:r>
              <a:rPr lang="en-US"/>
              <a:t>log((number of transcripts/ library size)+1)</a:t>
            </a:r>
          </a:p>
        </p188:txBody>
      </p188:reply>
      <p188:reply id="{2E081C7B-B0C0-5B42-8BD1-E84FFC38D86F}" authorId="{3684BC72-40D7-8E22-33F5-507B15B318F1}" created="2025-02-20T16:59:42.292">
        <p188:txBody>
          <a:bodyPr/>
          <a:lstStyle/>
          <a:p>
            <a:r>
              <a:rPr lang="en-US"/>
              <a:t>Remove genes that are missing in several individuals</a:t>
            </a:r>
          </a:p>
        </p188:txBody>
      </p188:reply>
      <p188:reply id="{D966BE60-4524-CF43-B5F7-338B3ECA1CDC}" authorId="{3684BC72-40D7-8E22-33F5-507B15B318F1}" created="2025-02-20T17:03:58.792">
        <p188:txBody>
          <a:bodyPr/>
          <a:lstStyle/>
          <a:p>
            <a:r>
              <a:rPr lang="en-US"/>
              <a:t>Remove singular</a:t>
            </a:r>
          </a:p>
        </p188:txBody>
      </p188:reply>
      <p188:reply id="{181FDA28-FDAA-324E-8967-5ED37C87545F}" authorId="{3684BC72-40D7-8E22-33F5-507B15B318F1}" created="2025-02-20T17:47:35.546">
        <p188:txBody>
          <a:bodyPr/>
          <a:lstStyle/>
          <a:p>
            <a:r>
              <a:rPr lang="en-US"/>
              <a:t>Size factor as an offset</a:t>
            </a:r>
          </a:p>
        </p188:txBody>
      </p188:reply>
      <p188:reply id="{5CEC4777-A013-0042-8BA2-59179069FAC1}" authorId="{3684BC72-40D7-8E22-33F5-507B15B318F1}" created="2025-02-22T03:44:29.925">
        <p188:txBody>
          <a:bodyPr/>
          <a:lstStyle/>
          <a:p>
            <a:r>
              <a:rPr lang="en-US"/>
              <a:t>This new plot is using the SCT data and 5% cutoff and no singular</a:t>
            </a:r>
          </a:p>
        </p188:txBody>
      </p188:reply>
    </p188:replyLst>
    <p188:txBody>
      <a:bodyPr/>
      <a:lstStyle/>
      <a:p>
        <a:r>
          <a:rPr lang="en-US"/>
          <a:t>I’m kind of concerned about the dog analysis because I’m not correcting for library size</a:t>
        </a:r>
      </a:p>
    </p188:txBody>
  </p188:cm>
  <p188:cm id="{2433F353-B2C6-6B47-A0BA-02431B06E8A0}" authorId="{3684BC72-40D7-8E22-33F5-507B15B318F1}" created="2025-02-20T19:41:57.98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36" creationId="{7FF62B23-D037-E090-F4EE-7FA0A0E42637}"/>
    </ac:deMkLst>
    <p188:txBody>
      <a:bodyPr/>
      <a:lstStyle/>
      <a:p>
        <a:r>
          <a:rPr lang="en-US"/>
          <a:t>Maybe get rid of this actually, it doesn’t seem super informative to me, I write everything it shows in the text</a:t>
        </a:r>
      </a:p>
    </p188:txBody>
  </p188:cm>
  <p188:cm id="{B8224D51-7999-BE44-8934-A026E9A49874}" authorId="{3684BC72-40D7-8E22-33F5-507B15B318F1}" created="2025-02-22T04:00:54.1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75" creationId="{6DEE3C35-9A2A-E294-402B-2105499A502A}"/>
    </ac:deMkLst>
    <p188:txBody>
      <a:bodyPr/>
      <a:lstStyle/>
      <a:p>
        <a:r>
          <a:rPr lang="en-US"/>
          <a:t>GO terms from early up prop dpgs, IDK if GO plots are worth including though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tiff"/><Relationship Id="rId13" Type="http://schemas.openxmlformats.org/officeDocument/2006/relationships/image" Target="../media/image30.png"/><Relationship Id="rId18" Type="http://schemas.openxmlformats.org/officeDocument/2006/relationships/image" Target="../media/image35.svg"/><Relationship Id="rId3" Type="http://schemas.microsoft.com/office/2018/10/relationships/comments" Target="../comments/modernComment_102_710BCB20.xml"/><Relationship Id="rId7" Type="http://schemas.openxmlformats.org/officeDocument/2006/relationships/image" Target="../media/image24.svg"/><Relationship Id="rId12" Type="http://schemas.openxmlformats.org/officeDocument/2006/relationships/image" Target="../media/image29.sv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svg"/><Relationship Id="rId15" Type="http://schemas.openxmlformats.org/officeDocument/2006/relationships/image" Target="../media/image32.png"/><Relationship Id="rId10" Type="http://schemas.openxmlformats.org/officeDocument/2006/relationships/image" Target="../media/image27.tiff"/><Relationship Id="rId4" Type="http://schemas.openxmlformats.org/officeDocument/2006/relationships/image" Target="../media/image21.png"/><Relationship Id="rId9" Type="http://schemas.openxmlformats.org/officeDocument/2006/relationships/image" Target="../media/image26.tiff"/><Relationship Id="rId14" Type="http://schemas.openxmlformats.org/officeDocument/2006/relationships/image" Target="../media/image3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raphic 67">
            <a:extLst>
              <a:ext uri="{FF2B5EF4-FFF2-40B4-BE49-F238E27FC236}">
                <a16:creationId xmlns:a16="http://schemas.microsoft.com/office/drawing/2014/main" id="{AFAC6DF5-5A48-4CFF-4E43-615A62ED0D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548"/>
          <a:stretch/>
        </p:blipFill>
        <p:spPr>
          <a:xfrm>
            <a:off x="21454" y="8637992"/>
            <a:ext cx="3837313" cy="1417320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090208C-3CBB-6929-56E0-3BF36A80FB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86200" y="8640925"/>
            <a:ext cx="3886200" cy="1413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26A85CC-765F-E34F-CBE7-DE70B728058C}"/>
              </a:ext>
            </a:extLst>
          </p:cNvPr>
          <p:cNvGrpSpPr/>
          <p:nvPr/>
        </p:nvGrpSpPr>
        <p:grpSpPr>
          <a:xfrm>
            <a:off x="387880" y="2352392"/>
            <a:ext cx="7413107" cy="4572000"/>
            <a:chOff x="387880" y="2490664"/>
            <a:chExt cx="7413107" cy="45720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869B481-AEC4-0CF1-1D0C-555B51D80607}"/>
                </a:ext>
              </a:extLst>
            </p:cNvPr>
            <p:cNvSpPr/>
            <p:nvPr/>
          </p:nvSpPr>
          <p:spPr>
            <a:xfrm>
              <a:off x="1467097" y="5212534"/>
              <a:ext cx="1466999" cy="10530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B7881D7-0A18-201D-06D1-BC616D30F828}"/>
                </a:ext>
              </a:extLst>
            </p:cNvPr>
            <p:cNvSpPr/>
            <p:nvPr/>
          </p:nvSpPr>
          <p:spPr>
            <a:xfrm>
              <a:off x="1468131" y="5318744"/>
              <a:ext cx="1460557" cy="164869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71E9030-6303-3EDF-B3CF-8490DA946F17}"/>
                </a:ext>
              </a:extLst>
            </p:cNvPr>
            <p:cNvSpPr/>
            <p:nvPr/>
          </p:nvSpPr>
          <p:spPr>
            <a:xfrm>
              <a:off x="1469696" y="5483613"/>
              <a:ext cx="1458056" cy="88785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BCADBDB-B425-2914-E1B7-27BE3C5930BB}"/>
                </a:ext>
              </a:extLst>
            </p:cNvPr>
            <p:cNvSpPr/>
            <p:nvPr/>
          </p:nvSpPr>
          <p:spPr>
            <a:xfrm>
              <a:off x="1467098" y="5570400"/>
              <a:ext cx="1461220" cy="8878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6058900-7F4F-217C-ECE0-90C562F4E743}"/>
                </a:ext>
              </a:extLst>
            </p:cNvPr>
            <p:cNvSpPr/>
            <p:nvPr/>
          </p:nvSpPr>
          <p:spPr>
            <a:xfrm>
              <a:off x="1465653" y="5658506"/>
              <a:ext cx="1461220" cy="88785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661D54E-581E-61D0-D36C-14CCCF1318A8}"/>
                </a:ext>
              </a:extLst>
            </p:cNvPr>
            <p:cNvSpPr/>
            <p:nvPr/>
          </p:nvSpPr>
          <p:spPr>
            <a:xfrm>
              <a:off x="1464208" y="5744999"/>
              <a:ext cx="1462665" cy="170275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20A0A0D-E578-6D9A-7ED5-4ADD7BB512BE}"/>
                </a:ext>
              </a:extLst>
            </p:cNvPr>
            <p:cNvSpPr/>
            <p:nvPr/>
          </p:nvSpPr>
          <p:spPr>
            <a:xfrm>
              <a:off x="1463496" y="5913383"/>
              <a:ext cx="1462665" cy="9688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4331E8D-1B65-CFE5-F5B9-01F19039743F}"/>
                </a:ext>
              </a:extLst>
            </p:cNvPr>
            <p:cNvSpPr/>
            <p:nvPr/>
          </p:nvSpPr>
          <p:spPr>
            <a:xfrm>
              <a:off x="1463496" y="6008090"/>
              <a:ext cx="1463377" cy="27284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80B8951-6BF5-E05E-65F0-EE3C1980F5BC}"/>
                </a:ext>
              </a:extLst>
            </p:cNvPr>
            <p:cNvSpPr/>
            <p:nvPr/>
          </p:nvSpPr>
          <p:spPr>
            <a:xfrm>
              <a:off x="1463496" y="6280936"/>
              <a:ext cx="1463377" cy="16099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29A1DE-DE3F-286D-4393-3D6B0D2FF8DE}"/>
                </a:ext>
              </a:extLst>
            </p:cNvPr>
            <p:cNvSpPr/>
            <p:nvPr/>
          </p:nvSpPr>
          <p:spPr>
            <a:xfrm>
              <a:off x="1463496" y="6441926"/>
              <a:ext cx="1464027" cy="94687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E52E9F1-061D-1727-410D-6FF697CF3E7C}"/>
                </a:ext>
              </a:extLst>
            </p:cNvPr>
            <p:cNvSpPr/>
            <p:nvPr/>
          </p:nvSpPr>
          <p:spPr>
            <a:xfrm>
              <a:off x="1467097" y="4956623"/>
              <a:ext cx="1466258" cy="25591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A296C0D-2151-E724-C921-4F356E8CA10A}"/>
                </a:ext>
              </a:extLst>
            </p:cNvPr>
            <p:cNvSpPr/>
            <p:nvPr/>
          </p:nvSpPr>
          <p:spPr>
            <a:xfrm>
              <a:off x="1467097" y="4515632"/>
              <a:ext cx="1464094" cy="44458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3515DE2-BA0D-E425-FFB3-2C0B28F1074D}"/>
                </a:ext>
              </a:extLst>
            </p:cNvPr>
            <p:cNvSpPr/>
            <p:nvPr/>
          </p:nvSpPr>
          <p:spPr>
            <a:xfrm>
              <a:off x="1467097" y="4159138"/>
              <a:ext cx="1461929" cy="358811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81F698-2224-CC6D-DB04-E00009644EF9}"/>
                </a:ext>
              </a:extLst>
            </p:cNvPr>
            <p:cNvSpPr/>
            <p:nvPr/>
          </p:nvSpPr>
          <p:spPr>
            <a:xfrm>
              <a:off x="1469695" y="3814120"/>
              <a:ext cx="1459333" cy="34638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3038D94-1C3C-9978-6C13-787DB3BD9FBE}"/>
                </a:ext>
              </a:extLst>
            </p:cNvPr>
            <p:cNvSpPr/>
            <p:nvPr/>
          </p:nvSpPr>
          <p:spPr>
            <a:xfrm>
              <a:off x="1469695" y="3380085"/>
              <a:ext cx="1459331" cy="434200"/>
            </a:xfrm>
            <a:prstGeom prst="rect">
              <a:avLst/>
            </a:prstGeom>
            <a:solidFill>
              <a:schemeClr val="tx2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E512A2F-C776-E3CA-9F45-E1C87BAC9AF2}"/>
                </a:ext>
              </a:extLst>
            </p:cNvPr>
            <p:cNvSpPr/>
            <p:nvPr/>
          </p:nvSpPr>
          <p:spPr>
            <a:xfrm>
              <a:off x="1469695" y="3191441"/>
              <a:ext cx="1454135" cy="19181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highlight>
                  <a:srgbClr val="FFFF00"/>
                </a:highlight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2C8E95A-E24B-713D-DE03-B64F94E73285}"/>
                </a:ext>
              </a:extLst>
            </p:cNvPr>
            <p:cNvSpPr/>
            <p:nvPr/>
          </p:nvSpPr>
          <p:spPr>
            <a:xfrm>
              <a:off x="1468131" y="2939126"/>
              <a:ext cx="1459332" cy="251970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F360C19-C065-543D-28DF-4B90206242C2}"/>
                </a:ext>
              </a:extLst>
            </p:cNvPr>
            <p:cNvSpPr/>
            <p:nvPr/>
          </p:nvSpPr>
          <p:spPr>
            <a:xfrm>
              <a:off x="1467097" y="2591050"/>
              <a:ext cx="1459332" cy="349349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AA47D037-5D25-3CF2-BE35-7E1C2880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314587" y="2490664"/>
              <a:ext cx="5486400" cy="4572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2ECDD0F-33E5-AE3E-5912-4FA4BDF14760}"/>
                </a:ext>
              </a:extLst>
            </p:cNvPr>
            <p:cNvSpPr txBox="1"/>
            <p:nvPr/>
          </p:nvSpPr>
          <p:spPr>
            <a:xfrm>
              <a:off x="1536246" y="6252768"/>
              <a:ext cx="9001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GABA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265FDAF-4560-6C99-BA1B-C31389BA111E}"/>
                </a:ext>
              </a:extLst>
            </p:cNvPr>
            <p:cNvSpPr txBox="1"/>
            <p:nvPr/>
          </p:nvSpPr>
          <p:spPr>
            <a:xfrm>
              <a:off x="1536245" y="603681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Glutamate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2CD20D-CCD9-06F4-F095-3D3BF16B874E}"/>
                </a:ext>
              </a:extLst>
            </p:cNvPr>
            <p:cNvSpPr txBox="1"/>
            <p:nvPr/>
          </p:nvSpPr>
          <p:spPr>
            <a:xfrm>
              <a:off x="1428233" y="5857183"/>
              <a:ext cx="100811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 Interneuron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597FC38-6079-6278-F5EC-C1F808979E23}"/>
                </a:ext>
              </a:extLst>
            </p:cNvPr>
            <p:cNvSpPr txBox="1"/>
            <p:nvPr/>
          </p:nvSpPr>
          <p:spPr>
            <a:xfrm>
              <a:off x="397405" y="6120764"/>
              <a:ext cx="10559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Neuronal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5B1156-2E11-9BF7-5563-FEC76118D50E}"/>
                </a:ext>
              </a:extLst>
            </p:cNvPr>
            <p:cNvSpPr txBox="1"/>
            <p:nvPr/>
          </p:nvSpPr>
          <p:spPr>
            <a:xfrm>
              <a:off x="397405" y="5506660"/>
              <a:ext cx="106588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Glia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D9E8A2B-9E30-AFD2-79B0-2C7B52FFF19F}"/>
                </a:ext>
              </a:extLst>
            </p:cNvPr>
            <p:cNvSpPr txBox="1"/>
            <p:nvPr/>
          </p:nvSpPr>
          <p:spPr>
            <a:xfrm>
              <a:off x="1428234" y="5726116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Radial Glia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EE5E9F0-A722-09B9-5EE8-D180D204A800}"/>
                </a:ext>
              </a:extLst>
            </p:cNvPr>
            <p:cNvSpPr txBox="1"/>
            <p:nvPr/>
          </p:nvSpPr>
          <p:spPr>
            <a:xfrm>
              <a:off x="1428224" y="5601148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Ependymal Glia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5D97EA8-7006-7B7D-46E1-D25BFBF60250}"/>
                </a:ext>
              </a:extLst>
            </p:cNvPr>
            <p:cNvSpPr txBox="1"/>
            <p:nvPr/>
          </p:nvSpPr>
          <p:spPr>
            <a:xfrm>
              <a:off x="1320222" y="5506660"/>
              <a:ext cx="11161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Oligodendrocyte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F655CF-3967-B921-408C-A25AD9595C06}"/>
                </a:ext>
              </a:extLst>
            </p:cNvPr>
            <p:cNvSpPr txBox="1"/>
            <p:nvPr/>
          </p:nvSpPr>
          <p:spPr>
            <a:xfrm>
              <a:off x="1536245" y="542467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OPC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72F16CB-10DF-ADD3-E5D2-BBC2B85ED5B8}"/>
                </a:ext>
              </a:extLst>
            </p:cNvPr>
            <p:cNvSpPr txBox="1"/>
            <p:nvPr/>
          </p:nvSpPr>
          <p:spPr>
            <a:xfrm>
              <a:off x="1520407" y="5281240"/>
              <a:ext cx="9159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Immune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710B335-341B-5D0D-7B0A-F8CD3F9A803C}"/>
                </a:ext>
              </a:extLst>
            </p:cNvPr>
            <p:cNvSpPr txBox="1"/>
            <p:nvPr/>
          </p:nvSpPr>
          <p:spPr>
            <a:xfrm>
              <a:off x="1516091" y="5146168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Acetylcholine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7C1F2FC-06C7-51A7-87B2-59434EDE0336}"/>
                </a:ext>
              </a:extLst>
            </p:cNvPr>
            <p:cNvSpPr txBox="1"/>
            <p:nvPr/>
          </p:nvSpPr>
          <p:spPr>
            <a:xfrm>
              <a:off x="1533064" y="4915349"/>
              <a:ext cx="90328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Kisspeptin System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63BA1C-4426-7B4B-1A04-85B1C496ABEB}"/>
                </a:ext>
              </a:extLst>
            </p:cNvPr>
            <p:cNvSpPr txBox="1"/>
            <p:nvPr/>
          </p:nvSpPr>
          <p:spPr>
            <a:xfrm>
              <a:off x="1469695" y="4568009"/>
              <a:ext cx="966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Tachykinin System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7DE8C0-5CDB-D7B9-D180-B18E4DAD1A7C}"/>
                </a:ext>
              </a:extLst>
            </p:cNvPr>
            <p:cNvSpPr txBox="1"/>
            <p:nvPr/>
          </p:nvSpPr>
          <p:spPr>
            <a:xfrm>
              <a:off x="1509142" y="4167274"/>
              <a:ext cx="9272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 Y System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428FD98-9880-8E5B-A3CC-0C3309E75A9E}"/>
                </a:ext>
              </a:extLst>
            </p:cNvPr>
            <p:cNvSpPr txBox="1"/>
            <p:nvPr/>
          </p:nvSpPr>
          <p:spPr>
            <a:xfrm>
              <a:off x="1491051" y="3428655"/>
              <a:ext cx="9452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Cholecystokinin System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EA97ACE-6E51-50D4-7803-0B7E55EFCD09}"/>
                </a:ext>
              </a:extLst>
            </p:cNvPr>
            <p:cNvSpPr txBox="1"/>
            <p:nvPr/>
          </p:nvSpPr>
          <p:spPr>
            <a:xfrm>
              <a:off x="1132426" y="3193219"/>
              <a:ext cx="13039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Galanin System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083D05-78C3-B0E6-E976-A3F8DE8E37FD}"/>
                </a:ext>
              </a:extLst>
            </p:cNvPr>
            <p:cNvSpPr txBox="1"/>
            <p:nvPr/>
          </p:nvSpPr>
          <p:spPr>
            <a:xfrm>
              <a:off x="1493214" y="2903169"/>
              <a:ext cx="9431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Nonapeptide System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CDC7041-824D-CCE0-16C9-CE56A64888E3}"/>
                </a:ext>
              </a:extLst>
            </p:cNvPr>
            <p:cNvSpPr txBox="1"/>
            <p:nvPr/>
          </p:nvSpPr>
          <p:spPr>
            <a:xfrm>
              <a:off x="1111852" y="3881088"/>
              <a:ext cx="13244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Steroid Receptors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14A52A0-CEA4-0C41-F51E-1A4055948742}"/>
                </a:ext>
              </a:extLst>
            </p:cNvPr>
            <p:cNvSpPr txBox="1"/>
            <p:nvPr/>
          </p:nvSpPr>
          <p:spPr>
            <a:xfrm>
              <a:off x="1215336" y="2652948"/>
              <a:ext cx="12210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Endothelial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C108AF-FE39-9342-9BE0-F3AACD1C6A70}"/>
                </a:ext>
              </a:extLst>
            </p:cNvPr>
            <p:cNvSpPr txBox="1"/>
            <p:nvPr/>
          </p:nvSpPr>
          <p:spPr>
            <a:xfrm>
              <a:off x="397405" y="3851410"/>
              <a:ext cx="10660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Neuropeptides and Steroid Hormones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1250090-D42E-DD78-7929-D34DFBEB4F89}"/>
                </a:ext>
              </a:extLst>
            </p:cNvPr>
            <p:cNvSpPr txBox="1"/>
            <p:nvPr/>
          </p:nvSpPr>
          <p:spPr>
            <a:xfrm>
              <a:off x="1533064" y="6376452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347004E-54F3-8C94-6E6F-F33269E6C7CE}"/>
                </a:ext>
              </a:extLst>
            </p:cNvPr>
            <p:cNvSpPr txBox="1"/>
            <p:nvPr/>
          </p:nvSpPr>
          <p:spPr>
            <a:xfrm>
              <a:off x="397405" y="2652490"/>
              <a:ext cx="106609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Fibroblast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4D751A-7019-A1AE-0AD4-A8BAF62EACDB}"/>
                </a:ext>
              </a:extLst>
            </p:cNvPr>
            <p:cNvSpPr/>
            <p:nvPr/>
          </p:nvSpPr>
          <p:spPr>
            <a:xfrm>
              <a:off x="387880" y="2585352"/>
              <a:ext cx="5814800" cy="3951262"/>
            </a:xfrm>
            <a:prstGeom prst="rect">
              <a:avLst/>
            </a:prstGeom>
            <a:noFill/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9BDDA5-781E-C1A7-DBEA-EBB33B4A0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2940400"/>
              <a:ext cx="2516625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114697-6A33-862E-A7F1-0A0486B83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5313489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5AE6DB-81B7-1BFB-4DEB-76891F6112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405" y="6010265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66988" y="0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490194-3B68-3F07-27ED-FCEB56DADDFA}"/>
              </a:ext>
            </a:extLst>
          </p:cNvPr>
          <p:cNvSpPr txBox="1"/>
          <p:nvPr/>
        </p:nvSpPr>
        <p:spPr>
          <a:xfrm>
            <a:off x="40893" y="667090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E88164-04E3-51E6-6145-D66050235CA1}"/>
              </a:ext>
            </a:extLst>
          </p:cNvPr>
          <p:cNvSpPr txBox="1"/>
          <p:nvPr/>
        </p:nvSpPr>
        <p:spPr>
          <a:xfrm>
            <a:off x="3774693" y="667090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F70CE1A5-B18E-0A02-8A73-E874619980A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9521" y="6759801"/>
            <a:ext cx="3657600" cy="182880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6B39FA4A-441E-BB78-AC98-2B0E5E4CD624}"/>
              </a:ext>
            </a:extLst>
          </p:cNvPr>
          <p:cNvSpPr txBox="1"/>
          <p:nvPr/>
        </p:nvSpPr>
        <p:spPr>
          <a:xfrm>
            <a:off x="3212986" y="8297585"/>
            <a:ext cx="13483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Expression Pattern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FBC48C9-6670-A322-309A-8017629827B9}"/>
              </a:ext>
            </a:extLst>
          </p:cNvPr>
          <p:cNvSpPr txBox="1"/>
          <p:nvPr/>
        </p:nvSpPr>
        <p:spPr>
          <a:xfrm>
            <a:off x="40895" y="857363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8" name="Graphic 127">
            <a:extLst>
              <a:ext uri="{FF2B5EF4-FFF2-40B4-BE49-F238E27FC236}">
                <a16:creationId xmlns:a16="http://schemas.microsoft.com/office/drawing/2014/main" id="{1E3907D1-CC57-05A1-F5E8-7692B9E8B32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699" y="8487370"/>
            <a:ext cx="7772400" cy="139520"/>
          </a:xfrm>
          <a:prstGeom prst="rect">
            <a:avLst/>
          </a:prstGeom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3303B5EC-26BE-7540-41EB-2C08D4251C5B}"/>
              </a:ext>
            </a:extLst>
          </p:cNvPr>
          <p:cNvSpPr txBox="1"/>
          <p:nvPr/>
        </p:nvSpPr>
        <p:spPr>
          <a:xfrm>
            <a:off x="3776732" y="858455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72" name="Graphic 171">
            <a:extLst>
              <a:ext uri="{FF2B5EF4-FFF2-40B4-BE49-F238E27FC236}">
                <a16:creationId xmlns:a16="http://schemas.microsoft.com/office/drawing/2014/main" id="{E09853DD-6420-DC24-2AD5-5EF747E195C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960671" y="6759801"/>
            <a:ext cx="3657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29B8E14-C75D-43CD-41C5-2493F3E8C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200400" cy="183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383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4761</TotalTime>
  <Words>89</Words>
  <Application>Microsoft Macintosh PowerPoint</Application>
  <PresentationFormat>Custom</PresentationFormat>
  <Paragraphs>59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Black</vt:lpstr>
      <vt:lpstr>Aptos Display</vt:lpstr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25</cp:revision>
  <dcterms:created xsi:type="dcterms:W3CDTF">2025-02-13T20:55:36Z</dcterms:created>
  <dcterms:modified xsi:type="dcterms:W3CDTF">2025-02-22T16:29:00Z</dcterms:modified>
</cp:coreProperties>
</file>