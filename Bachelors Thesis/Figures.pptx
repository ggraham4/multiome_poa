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5"/>
  </p:notesMasterIdLst>
  <p:sldIdLst>
    <p:sldId id="257" r:id="rId2"/>
    <p:sldId id="258" r:id="rId3"/>
    <p:sldId id="259" r:id="rId4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44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99" autoAdjust="0"/>
    <p:restoredTop sz="94656"/>
  </p:normalViewPr>
  <p:slideViewPr>
    <p:cSldViewPr snapToGrid="0">
      <p:cViewPr>
        <p:scale>
          <a:sx n="125" d="100"/>
          <a:sy n="125" d="100"/>
        </p:scale>
        <p:origin x="168" y="-3666"/>
      </p:cViewPr>
      <p:guideLst>
        <p:guide orient="horz" pos="3144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3C1878-8624-5D46-B8B3-2DB611CD79DB}" authorId="{3684BC72-40D7-8E22-33F5-507B15B318F1}" created="2025-02-20T16:17:56.15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81" creationId="{A9E79937-C4A0-6596-DD39-F3EEF2A48069}"/>
    </ac:deMkLst>
    <p188:replyLst>
      <p188:reply id="{4F7282FD-A696-B540-9CB6-B1A6F55AC953}" authorId="{3684BC72-40D7-8E22-33F5-507B15B318F1}" created="2025-02-20T16:53:05.758">
        <p188:txBody>
          <a:bodyPr/>
          <a:lstStyle/>
          <a:p>
            <a:r>
              <a:rPr lang="en-US"/>
              <a:t>Corrected matrix for library size</a:t>
            </a:r>
          </a:p>
        </p188:txBody>
      </p188:reply>
      <p188:reply id="{C4B6930F-38FA-5B47-BB2E-CB40CEF2B368}" authorId="{3684BC72-40D7-8E22-33F5-507B15B318F1}" created="2025-02-20T16:54:26.992">
        <p188:txBody>
          <a:bodyPr/>
          <a:lstStyle/>
          <a:p>
            <a:r>
              <a:rPr lang="en-US"/>
              <a:t>Also expression threshold</a:t>
            </a:r>
          </a:p>
        </p188:txBody>
      </p188:reply>
      <p188:reply id="{2C4A81D9-68D8-1941-A35C-FE8C94F5E55D}" authorId="{3684BC72-40D7-8E22-33F5-507B15B318F1}" created="2025-02-20T16:55:29.392">
        <p188:txBody>
          <a:bodyPr/>
          <a:lstStyle/>
          <a:p>
            <a:r>
              <a:rPr lang="en-US"/>
              <a:t>log((number of transcripts/ library size)+1)</a:t>
            </a:r>
          </a:p>
        </p188:txBody>
      </p188:reply>
      <p188:reply id="{2E081C7B-B0C0-5B42-8BD1-E84FFC38D86F}" authorId="{3684BC72-40D7-8E22-33F5-507B15B318F1}" created="2025-02-20T16:59:42.292">
        <p188:txBody>
          <a:bodyPr/>
          <a:lstStyle/>
          <a:p>
            <a:r>
              <a:rPr lang="en-US"/>
              <a:t>Remove genes that are missing in several individuals</a:t>
            </a:r>
          </a:p>
        </p188:txBody>
      </p188:reply>
      <p188:reply id="{D966BE60-4524-CF43-B5F7-338B3ECA1CDC}" authorId="{3684BC72-40D7-8E22-33F5-507B15B318F1}" created="2025-02-20T17:03:58.792">
        <p188:txBody>
          <a:bodyPr/>
          <a:lstStyle/>
          <a:p>
            <a:r>
              <a:rPr lang="en-US"/>
              <a:t>Remove singular</a:t>
            </a:r>
          </a:p>
        </p188:txBody>
      </p188:reply>
      <p188:reply id="{181FDA28-FDAA-324E-8967-5ED37C87545F}" authorId="{3684BC72-40D7-8E22-33F5-507B15B318F1}" created="2025-02-20T17:47:35.546">
        <p188:txBody>
          <a:bodyPr/>
          <a:lstStyle/>
          <a:p>
            <a:r>
              <a:rPr lang="en-US"/>
              <a:t>Size factor as an offset</a:t>
            </a:r>
          </a:p>
        </p188:txBody>
      </p188:reply>
      <p188:reply id="{5CEC4777-A013-0042-8BA2-59179069FAC1}" authorId="{3684BC72-40D7-8E22-33F5-507B15B318F1}" created="2025-02-22T03:44:29.925">
        <p188:txBody>
          <a:bodyPr/>
          <a:lstStyle/>
          <a:p>
            <a:r>
              <a:rPr lang="en-US"/>
              <a:t>This new plot is using the SCT data and 5% cutoff and no singular</a:t>
            </a:r>
          </a:p>
        </p188:txBody>
      </p188:reply>
    </p188:replyLst>
    <p188:txBody>
      <a:bodyPr/>
      <a:lstStyle/>
      <a:p>
        <a:r>
          <a:rPr lang="en-US"/>
          <a:t>I’m kind of concerned about the dog analysis because I’m not correcting for library size</a:t>
        </a:r>
      </a:p>
    </p188:txBody>
  </p188:cm>
  <p188:cm id="{2433F353-B2C6-6B47-A0BA-02431B06E8A0}" authorId="{3684BC72-40D7-8E22-33F5-507B15B318F1}" created="2025-02-20T19:41:57.98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36" creationId="{7FF62B23-D037-E090-F4EE-7FA0A0E42637}"/>
    </ac:deMkLst>
    <p188:txBody>
      <a:bodyPr/>
      <a:lstStyle/>
      <a:p>
        <a:r>
          <a:rPr lang="en-US"/>
          <a:t>Maybe get rid of this actually, it doesn’t seem super informative to me, I write everything it shows in the text</a:t>
        </a:r>
      </a:p>
    </p188:txBody>
  </p188:cm>
  <p188:cm id="{B8224D51-7999-BE44-8934-A026E9A49874}" authorId="{3684BC72-40D7-8E22-33F5-507B15B318F1}" created="2025-02-22T04:00:54.1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75" creationId="{6DEE3C35-9A2A-E294-402B-2105499A502A}"/>
    </ac:deMkLst>
    <p188:txBody>
      <a:bodyPr/>
      <a:lstStyle/>
      <a:p>
        <a:r>
          <a:rPr lang="en-US"/>
          <a:t>GO terms from early up prop dpgs, IDK if GO plots are worth including though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1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13" Type="http://schemas.openxmlformats.org/officeDocument/2006/relationships/image" Target="../media/image30.png"/><Relationship Id="rId18" Type="http://schemas.openxmlformats.org/officeDocument/2006/relationships/image" Target="../media/image35.svg"/><Relationship Id="rId3" Type="http://schemas.microsoft.com/office/2018/10/relationships/comments" Target="../comments/modernComment_102_710BCB20.xml"/><Relationship Id="rId7" Type="http://schemas.openxmlformats.org/officeDocument/2006/relationships/image" Target="../media/image24.png"/><Relationship Id="rId12" Type="http://schemas.openxmlformats.org/officeDocument/2006/relationships/image" Target="../media/image29.sv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sv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AD990B72-8A3C-EA69-BA11-617D50D00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002" y="227840"/>
            <a:ext cx="2286000" cy="2286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BC1ACAAA-B9CC-614C-C777-8366162F26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30" b="-1"/>
          <a:stretch/>
        </p:blipFill>
        <p:spPr>
          <a:xfrm>
            <a:off x="2827569" y="234798"/>
            <a:ext cx="2276046" cy="226475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F5B0CEF-2CFA-0117-1F58-4433796B2A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386" y="206879"/>
            <a:ext cx="2299388" cy="2286000"/>
          </a:xfrm>
          <a:prstGeom prst="rect">
            <a:avLst/>
          </a:prstGeom>
        </p:spPr>
      </p:pic>
      <p:pic>
        <p:nvPicPr>
          <p:cNvPr id="68" name="Graphic 67">
            <a:extLst>
              <a:ext uri="{FF2B5EF4-FFF2-40B4-BE49-F238E27FC236}">
                <a16:creationId xmlns:a16="http://schemas.microsoft.com/office/drawing/2014/main" id="{AFAC6DF5-5A48-4CFF-4E43-615A62ED0D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548"/>
          <a:stretch/>
        </p:blipFill>
        <p:spPr>
          <a:xfrm>
            <a:off x="21454" y="8637992"/>
            <a:ext cx="3837313" cy="1417320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090208C-3CBB-6929-56E0-3BF36A80FB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886200" y="8640925"/>
            <a:ext cx="3886200" cy="14131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CE5B472-A890-B725-5CB9-6B662537692A}"/>
              </a:ext>
            </a:extLst>
          </p:cNvPr>
          <p:cNvSpPr txBox="1"/>
          <p:nvPr/>
        </p:nvSpPr>
        <p:spPr>
          <a:xfrm>
            <a:off x="774700" y="11944"/>
            <a:ext cx="178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8A16BF-271B-601F-0498-3805974BF14C}"/>
              </a:ext>
            </a:extLst>
          </p:cNvPr>
          <p:cNvSpPr txBox="1"/>
          <p:nvPr/>
        </p:nvSpPr>
        <p:spPr>
          <a:xfrm>
            <a:off x="3333750" y="0"/>
            <a:ext cx="170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ATAC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4D2B9-AD74-9197-DAE2-2A9B009BC581}"/>
              </a:ext>
            </a:extLst>
          </p:cNvPr>
          <p:cNvSpPr txBox="1"/>
          <p:nvPr/>
        </p:nvSpPr>
        <p:spPr>
          <a:xfrm>
            <a:off x="5841826" y="1510"/>
            <a:ext cx="1773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 + ATAC</a:t>
            </a:r>
          </a:p>
        </p:txBody>
      </p:sp>
      <p:pic>
        <p:nvPicPr>
          <p:cNvPr id="74" name="Graphic 73">
            <a:extLst>
              <a:ext uri="{FF2B5EF4-FFF2-40B4-BE49-F238E27FC236}">
                <a16:creationId xmlns:a16="http://schemas.microsoft.com/office/drawing/2014/main" id="{F70CE1A5-B18E-0A02-8A73-E874619980A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9521" y="6759801"/>
            <a:ext cx="3657600" cy="182880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6B39FA4A-441E-BB78-AC98-2B0E5E4CD624}"/>
              </a:ext>
            </a:extLst>
          </p:cNvPr>
          <p:cNvSpPr txBox="1"/>
          <p:nvPr/>
        </p:nvSpPr>
        <p:spPr>
          <a:xfrm>
            <a:off x="3212986" y="8297585"/>
            <a:ext cx="13483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Expression Pattern</a:t>
            </a:r>
          </a:p>
        </p:txBody>
      </p:sp>
      <p:pic>
        <p:nvPicPr>
          <p:cNvPr id="128" name="Graphic 127">
            <a:extLst>
              <a:ext uri="{FF2B5EF4-FFF2-40B4-BE49-F238E27FC236}">
                <a16:creationId xmlns:a16="http://schemas.microsoft.com/office/drawing/2014/main" id="{1E3907D1-CC57-05A1-F5E8-7692B9E8B32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99" y="8487370"/>
            <a:ext cx="7772400" cy="139520"/>
          </a:xfrm>
          <a:prstGeom prst="rect">
            <a:avLst/>
          </a:prstGeom>
        </p:spPr>
      </p:pic>
      <p:sp>
        <p:nvSpPr>
          <p:cNvPr id="162" name="TextBox 161">
            <a:extLst>
              <a:ext uri="{FF2B5EF4-FFF2-40B4-BE49-F238E27FC236}">
                <a16:creationId xmlns:a16="http://schemas.microsoft.com/office/drawing/2014/main" id="{3303B5EC-26BE-7540-41EB-2C08D4251C5B}"/>
              </a:ext>
            </a:extLst>
          </p:cNvPr>
          <p:cNvSpPr txBox="1"/>
          <p:nvPr/>
        </p:nvSpPr>
        <p:spPr>
          <a:xfrm>
            <a:off x="3776732" y="858455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72" name="Graphic 171">
            <a:extLst>
              <a:ext uri="{FF2B5EF4-FFF2-40B4-BE49-F238E27FC236}">
                <a16:creationId xmlns:a16="http://schemas.microsoft.com/office/drawing/2014/main" id="{E09853DD-6420-DC24-2AD5-5EF747E195C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60671" y="6759801"/>
            <a:ext cx="3657600" cy="1828800"/>
          </a:xfrm>
          <a:prstGeom prst="rect">
            <a:avLst/>
          </a:prstGeom>
        </p:spPr>
      </p:pic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DFA82F8-8194-2D06-1D55-BBF802329F34}"/>
              </a:ext>
            </a:extLst>
          </p:cNvPr>
          <p:cNvGrpSpPr/>
          <p:nvPr/>
        </p:nvGrpSpPr>
        <p:grpSpPr>
          <a:xfrm>
            <a:off x="14259" y="2353593"/>
            <a:ext cx="7765300" cy="4723708"/>
            <a:chOff x="40893" y="2353593"/>
            <a:chExt cx="7765300" cy="4723708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20A0A0D-E578-6D9A-7ED5-4ADD7BB512BE}"/>
                </a:ext>
              </a:extLst>
            </p:cNvPr>
            <p:cNvSpPr/>
            <p:nvPr/>
          </p:nvSpPr>
          <p:spPr>
            <a:xfrm>
              <a:off x="1628849" y="5827474"/>
              <a:ext cx="1298448" cy="8229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Interneuron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4331E8D-1B65-CFE5-F5B9-01F19039743F}"/>
                </a:ext>
              </a:extLst>
            </p:cNvPr>
            <p:cNvSpPr/>
            <p:nvPr/>
          </p:nvSpPr>
          <p:spPr>
            <a:xfrm>
              <a:off x="1628758" y="5905897"/>
              <a:ext cx="1298448" cy="243693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Glutamate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80B8951-6BF5-E05E-65F0-EE3C1980F5BC}"/>
                </a:ext>
              </a:extLst>
            </p:cNvPr>
            <p:cNvSpPr/>
            <p:nvPr/>
          </p:nvSpPr>
          <p:spPr>
            <a:xfrm>
              <a:off x="1628758" y="6147992"/>
              <a:ext cx="1298448" cy="1560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GABA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29A1DE-DE3F-286D-4393-3D6B0D2FF8DE}"/>
                </a:ext>
              </a:extLst>
            </p:cNvPr>
            <p:cNvSpPr/>
            <p:nvPr/>
          </p:nvSpPr>
          <p:spPr>
            <a:xfrm>
              <a:off x="1628675" y="6301057"/>
              <a:ext cx="1298448" cy="94687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BF08607-6BC4-31DC-B20D-E3E2B6370A45}"/>
                </a:ext>
              </a:extLst>
            </p:cNvPr>
            <p:cNvSpPr/>
            <p:nvPr/>
          </p:nvSpPr>
          <p:spPr>
            <a:xfrm>
              <a:off x="1625622" y="5740270"/>
              <a:ext cx="1290774" cy="86755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Acetylcholine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56CE23C-4490-3499-24E8-2AECE7F7FD0C}"/>
                </a:ext>
              </a:extLst>
            </p:cNvPr>
            <p:cNvSpPr/>
            <p:nvPr/>
          </p:nvSpPr>
          <p:spPr>
            <a:xfrm>
              <a:off x="1631730" y="5579442"/>
              <a:ext cx="1298448" cy="1560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POA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E6494D5-CC78-FEFF-52B3-5D895823E8D7}"/>
                </a:ext>
              </a:extLst>
            </p:cNvPr>
            <p:cNvSpPr/>
            <p:nvPr/>
          </p:nvSpPr>
          <p:spPr>
            <a:xfrm>
              <a:off x="1628472" y="5413439"/>
              <a:ext cx="1304933" cy="167904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Radial Glia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1E60E3A-3F74-F973-6D67-A91E740BA6AD}"/>
                </a:ext>
              </a:extLst>
            </p:cNvPr>
            <p:cNvSpPr/>
            <p:nvPr/>
          </p:nvSpPr>
          <p:spPr>
            <a:xfrm>
              <a:off x="1630864" y="5331126"/>
              <a:ext cx="1285532" cy="8229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Ependymal Glia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E804319C-84F5-E5F2-04E1-E510ED5EED6D}"/>
                </a:ext>
              </a:extLst>
            </p:cNvPr>
            <p:cNvSpPr/>
            <p:nvPr/>
          </p:nvSpPr>
          <p:spPr>
            <a:xfrm>
              <a:off x="1628472" y="5244502"/>
              <a:ext cx="1298448" cy="84923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Oligodendrocyte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E0041283-E553-A320-4F5B-11F35F546B7A}"/>
                </a:ext>
              </a:extLst>
            </p:cNvPr>
            <p:cNvSpPr/>
            <p:nvPr/>
          </p:nvSpPr>
          <p:spPr>
            <a:xfrm>
              <a:off x="1628473" y="5163760"/>
              <a:ext cx="1304932" cy="822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OPC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920D66C-580E-2863-6488-4D556F02F905}"/>
                </a:ext>
              </a:extLst>
            </p:cNvPr>
            <p:cNvSpPr/>
            <p:nvPr/>
          </p:nvSpPr>
          <p:spPr>
            <a:xfrm>
              <a:off x="1630863" y="5004277"/>
              <a:ext cx="1302542" cy="161871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Immune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4B7A84E-646D-8975-7F05-759CFBF391E0}"/>
                </a:ext>
              </a:extLst>
            </p:cNvPr>
            <p:cNvSpPr/>
            <p:nvPr/>
          </p:nvSpPr>
          <p:spPr>
            <a:xfrm>
              <a:off x="1630862" y="4746054"/>
              <a:ext cx="1292873" cy="253491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Kisspeptins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7C58DF2-5240-FC20-D955-D5C669F29682}"/>
                </a:ext>
              </a:extLst>
            </p:cNvPr>
            <p:cNvSpPr/>
            <p:nvPr/>
          </p:nvSpPr>
          <p:spPr>
            <a:xfrm>
              <a:off x="1630860" y="4340962"/>
              <a:ext cx="1289119" cy="405089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Tachykinins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B09DA51-B87A-204D-802F-C1CCCD39FB3D}"/>
                </a:ext>
              </a:extLst>
            </p:cNvPr>
            <p:cNvSpPr/>
            <p:nvPr/>
          </p:nvSpPr>
          <p:spPr>
            <a:xfrm>
              <a:off x="1630859" y="4005994"/>
              <a:ext cx="1302546" cy="33882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Neuropeptide Y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4748F2B-ABF1-496D-66CA-5FD0E0293C98}"/>
                </a:ext>
              </a:extLst>
            </p:cNvPr>
            <p:cNvSpPr/>
            <p:nvPr/>
          </p:nvSpPr>
          <p:spPr>
            <a:xfrm>
              <a:off x="1630859" y="3683225"/>
              <a:ext cx="1298453" cy="325047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Steroid Hormones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6EE432-718C-9FC1-DD3E-60CC962E8BB1}"/>
                </a:ext>
              </a:extLst>
            </p:cNvPr>
            <p:cNvSpPr/>
            <p:nvPr/>
          </p:nvSpPr>
          <p:spPr>
            <a:xfrm>
              <a:off x="1630859" y="3278022"/>
              <a:ext cx="1299727" cy="40902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Cholecystokinin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9BE34BC-10CF-DBFA-47E1-F00A69EB3529}"/>
                </a:ext>
              </a:extLst>
            </p:cNvPr>
            <p:cNvSpPr/>
            <p:nvPr/>
          </p:nvSpPr>
          <p:spPr>
            <a:xfrm>
              <a:off x="1630858" y="3102161"/>
              <a:ext cx="1292021" cy="175858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Galanin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88A2CE2-F4F3-FD05-6B60-A66B527335DA}"/>
                </a:ext>
              </a:extLst>
            </p:cNvPr>
            <p:cNvSpPr/>
            <p:nvPr/>
          </p:nvSpPr>
          <p:spPr>
            <a:xfrm>
              <a:off x="1629874" y="2777899"/>
              <a:ext cx="1292873" cy="326579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Nonapeptides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6FD5DFA2-13E9-907F-1806-F2D95307233F}"/>
                </a:ext>
              </a:extLst>
            </p:cNvPr>
            <p:cNvSpPr/>
            <p:nvPr/>
          </p:nvSpPr>
          <p:spPr>
            <a:xfrm>
              <a:off x="1628472" y="2457732"/>
              <a:ext cx="1293896" cy="333167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Endothelial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D5B1156-2E11-9BF7-5563-FEC76118D50E}"/>
                </a:ext>
              </a:extLst>
            </p:cNvPr>
            <p:cNvSpPr txBox="1"/>
            <p:nvPr/>
          </p:nvSpPr>
          <p:spPr>
            <a:xfrm>
              <a:off x="760522" y="5249013"/>
              <a:ext cx="85092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Glia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C108AF-FE39-9342-9BE0-F3AACD1C6A70}"/>
                </a:ext>
              </a:extLst>
            </p:cNvPr>
            <p:cNvSpPr txBox="1"/>
            <p:nvPr/>
          </p:nvSpPr>
          <p:spPr>
            <a:xfrm>
              <a:off x="739137" y="3614915"/>
              <a:ext cx="8846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Neuropeptides and Steroid Hormones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4D751A-7019-A1AE-0AD4-A8BAF62EACDB}"/>
                </a:ext>
              </a:extLst>
            </p:cNvPr>
            <p:cNvSpPr/>
            <p:nvPr/>
          </p:nvSpPr>
          <p:spPr>
            <a:xfrm>
              <a:off x="774700" y="2447080"/>
              <a:ext cx="5427980" cy="3951262"/>
            </a:xfrm>
            <a:prstGeom prst="rect">
              <a:avLst/>
            </a:prstGeom>
            <a:noFill/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9BDDA5-781E-C1A7-DBEA-EBB33B4A0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4700" y="2777902"/>
              <a:ext cx="2136155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114697-6A33-862E-A7F1-0A0486B83D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4700" y="4999545"/>
              <a:ext cx="2156546" cy="4222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2490194-3B68-3F07-27ED-FCEB56DADDFA}"/>
                </a:ext>
              </a:extLst>
            </p:cNvPr>
            <p:cNvSpPr txBox="1"/>
            <p:nvPr/>
          </p:nvSpPr>
          <p:spPr>
            <a:xfrm>
              <a:off x="40893" y="6670908"/>
              <a:ext cx="252090" cy="4063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41" dirty="0">
                  <a:latin typeface="Aptos Black" panose="020F0502020204030204" pitchFamily="34" charset="0"/>
                  <a:cs typeface="Helvetica" panose="020B0604020202020204" pitchFamily="34" charset="0"/>
                </a:rPr>
                <a:t>e</a:t>
              </a:r>
              <a:endParaRPr lang="en-US" sz="892" dirty="0">
                <a:latin typeface="Aptos Black" panose="020F050202020403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0E88164-04E3-51E6-6145-D66050235CA1}"/>
                </a:ext>
              </a:extLst>
            </p:cNvPr>
            <p:cNvSpPr txBox="1"/>
            <p:nvPr/>
          </p:nvSpPr>
          <p:spPr>
            <a:xfrm>
              <a:off x="3774693" y="6670908"/>
              <a:ext cx="252090" cy="4063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41" dirty="0">
                  <a:latin typeface="Aptos Black" panose="020F0502020204030204" pitchFamily="34" charset="0"/>
                  <a:cs typeface="Helvetica" panose="020B0604020202020204" pitchFamily="34" charset="0"/>
                </a:rPr>
                <a:t>f</a:t>
              </a:r>
              <a:endParaRPr lang="en-US" sz="892" dirty="0">
                <a:latin typeface="Aptos Black" panose="020F0502020204030204" pitchFamily="34" charset="0"/>
                <a:cs typeface="Helvetica" panose="020B0604020202020204" pitchFamily="34" charset="0"/>
              </a:endParaRPr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F60A217-C9B8-F3CA-353A-2DE763598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2319793" y="2353593"/>
              <a:ext cx="5486400" cy="4572000"/>
            </a:xfrm>
            <a:prstGeom prst="rect">
              <a:avLst/>
            </a:prstGeom>
          </p:spPr>
        </p:pic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7F0535C-9DC4-C7A1-DA9F-859A8B4A75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4700" y="5738135"/>
              <a:ext cx="214568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C39D94E-6FC3-2547-DDC6-1C6F50D6AE82}"/>
                </a:ext>
              </a:extLst>
            </p:cNvPr>
            <p:cNvSpPr txBox="1"/>
            <p:nvPr/>
          </p:nvSpPr>
          <p:spPr>
            <a:xfrm>
              <a:off x="756000" y="5974346"/>
              <a:ext cx="85092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DF34FC4-973F-F1A1-5C61-A658CDC75FE7}"/>
                </a:ext>
              </a:extLst>
            </p:cNvPr>
            <p:cNvSpPr txBox="1"/>
            <p:nvPr/>
          </p:nvSpPr>
          <p:spPr>
            <a:xfrm>
              <a:off x="763521" y="2505443"/>
              <a:ext cx="88464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Fibroblast</a:t>
              </a: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8180B928-8811-2E76-E969-1F175821848E}"/>
              </a:ext>
            </a:extLst>
          </p:cNvPr>
          <p:cNvSpPr/>
          <p:nvPr/>
        </p:nvSpPr>
        <p:spPr>
          <a:xfrm>
            <a:off x="40895" y="8892807"/>
            <a:ext cx="1692655" cy="703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170FF1-8472-2D3A-721E-5C480386F753}"/>
              </a:ext>
            </a:extLst>
          </p:cNvPr>
          <p:cNvSpPr txBox="1"/>
          <p:nvPr/>
        </p:nvSpPr>
        <p:spPr>
          <a:xfrm>
            <a:off x="187282" y="8873011"/>
            <a:ext cx="35894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transport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304A81-2003-CA03-AC01-71EBE41D4E3D}"/>
              </a:ext>
            </a:extLst>
          </p:cNvPr>
          <p:cNvSpPr txBox="1"/>
          <p:nvPr/>
        </p:nvSpPr>
        <p:spPr>
          <a:xfrm>
            <a:off x="187281" y="9025411"/>
            <a:ext cx="37418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transmembrane transport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5A61D-36B7-ED72-F202-4332713E6A01}"/>
              </a:ext>
            </a:extLst>
          </p:cNvPr>
          <p:cNvSpPr txBox="1"/>
          <p:nvPr/>
        </p:nvSpPr>
        <p:spPr>
          <a:xfrm>
            <a:off x="187281" y="9331700"/>
            <a:ext cx="13930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calcium ion transport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FBC48C9-6670-A322-309A-8017629827B9}"/>
              </a:ext>
            </a:extLst>
          </p:cNvPr>
          <p:cNvSpPr txBox="1"/>
          <p:nvPr/>
        </p:nvSpPr>
        <p:spPr>
          <a:xfrm>
            <a:off x="40895" y="857363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A1FEC-7208-E99D-FA60-BDA1CC66F625}"/>
              </a:ext>
            </a:extLst>
          </p:cNvPr>
          <p:cNvSpPr/>
          <p:nvPr/>
        </p:nvSpPr>
        <p:spPr>
          <a:xfrm>
            <a:off x="3858767" y="8906882"/>
            <a:ext cx="1803769" cy="703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0091BC-9FBA-8DB4-7440-128EBF9AE145}"/>
              </a:ext>
            </a:extLst>
          </p:cNvPr>
          <p:cNvSpPr txBox="1"/>
          <p:nvPr/>
        </p:nvSpPr>
        <p:spPr>
          <a:xfrm>
            <a:off x="3960671" y="8854558"/>
            <a:ext cx="3735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transport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3378AD-4604-63A1-9AAC-85154DA8E0BF}"/>
              </a:ext>
            </a:extLst>
          </p:cNvPr>
          <p:cNvSpPr txBox="1"/>
          <p:nvPr/>
        </p:nvSpPr>
        <p:spPr>
          <a:xfrm>
            <a:off x="3963918" y="8990947"/>
            <a:ext cx="3802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transmembrane transport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625BBD-3EE6-0F20-2A16-9E37CC6E86A7}"/>
              </a:ext>
            </a:extLst>
          </p:cNvPr>
          <p:cNvSpPr txBox="1"/>
          <p:nvPr/>
        </p:nvSpPr>
        <p:spPr>
          <a:xfrm>
            <a:off x="3960671" y="9254518"/>
            <a:ext cx="17018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potassium ion transport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E239A9-F849-1988-C13B-C0DC7AB668AB}"/>
              </a:ext>
            </a:extLst>
          </p:cNvPr>
          <p:cNvSpPr txBox="1"/>
          <p:nvPr/>
        </p:nvSpPr>
        <p:spPr>
          <a:xfrm>
            <a:off x="3956566" y="9408257"/>
            <a:ext cx="17334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potassium ion transmembrane transport</a:t>
            </a:r>
          </a:p>
        </p:txBody>
      </p:sp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29B8E14-C75D-43CD-41C5-2493F3E8C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200400" cy="183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383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4848</TotalTime>
  <Words>107</Words>
  <Application>Microsoft Office PowerPoint</Application>
  <PresentationFormat>Custom</PresentationFormat>
  <Paragraphs>69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Google Sans</vt:lpstr>
      <vt:lpstr>Aptos</vt:lpstr>
      <vt:lpstr>Aptos Black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31</cp:revision>
  <dcterms:created xsi:type="dcterms:W3CDTF">2025-02-13T20:55:36Z</dcterms:created>
  <dcterms:modified xsi:type="dcterms:W3CDTF">2025-02-23T05:02:42Z</dcterms:modified>
</cp:coreProperties>
</file>