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omments/modernComment_102_710BCB20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5"/>
  </p:notesMasterIdLst>
  <p:sldIdLst>
    <p:sldId id="257" r:id="rId2"/>
    <p:sldId id="258" r:id="rId3"/>
    <p:sldId id="259" r:id="rId4"/>
  </p:sldIdLst>
  <p:sldSz cx="7772400" cy="1005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68" userDrawn="1">
          <p15:clr>
            <a:srgbClr val="A4A3A4"/>
          </p15:clr>
        </p15:guide>
        <p15:guide id="2" pos="2448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3684BC72-40D7-8E22-33F5-507B15B318F1}" name="Graham, Gabe" initials="GG" userId="S::ggraham4@illinois.edu::a1318580-2411-4eda-ba32-98af4cc495cf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33" autoAdjust="0"/>
    <p:restoredTop sz="94656"/>
  </p:normalViewPr>
  <p:slideViewPr>
    <p:cSldViewPr snapToGrid="0">
      <p:cViewPr>
        <p:scale>
          <a:sx n="117" d="100"/>
          <a:sy n="117" d="100"/>
        </p:scale>
        <p:origin x="1152" y="-512"/>
      </p:cViewPr>
      <p:guideLst>
        <p:guide orient="horz" pos="3168"/>
        <p:guide pos="2448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10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comments/modernComment_102_710BCB20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5609ECD3-344E-4D1C-BE48-BEBFC5019864}" authorId="{3684BC72-40D7-8E22-33F5-507B15B318F1}" created="2025-02-19T05:25:33.78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spMk id="9" creationId="{99A49F8E-FAE3-DBE1-F601-87D595B75729}"/>
    </ac:deMkLst>
    <p188:txBody>
      <a:bodyPr/>
      <a:lstStyle/>
      <a:p>
        <a:r>
          <a:rPr lang="en-US"/>
          <a:t>Man I didn’t include the hmx genes in this plot...</a:t>
        </a:r>
      </a:p>
    </p188:txBody>
  </p188:cm>
  <p188:cm id="{613C1878-8624-5D46-B8B3-2DB611CD79DB}" authorId="{3684BC72-40D7-8E22-33F5-507B15B318F1}" created="2025-02-20T16:17:56.15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81" creationId="{A9E79937-C4A0-6596-DD39-F3EEF2A48069}"/>
    </ac:deMkLst>
    <p188:replyLst>
      <p188:reply id="{4F7282FD-A696-B540-9CB6-B1A6F55AC953}" authorId="{3684BC72-40D7-8E22-33F5-507B15B318F1}" created="2025-02-20T16:53:05.758">
        <p188:txBody>
          <a:bodyPr/>
          <a:lstStyle/>
          <a:p>
            <a:r>
              <a:rPr lang="en-US"/>
              <a:t>Corrected matrix for library size</a:t>
            </a:r>
          </a:p>
        </p188:txBody>
      </p188:reply>
      <p188:reply id="{C4B6930F-38FA-5B47-BB2E-CB40CEF2B368}" authorId="{3684BC72-40D7-8E22-33F5-507B15B318F1}" created="2025-02-20T16:54:26.992">
        <p188:txBody>
          <a:bodyPr/>
          <a:lstStyle/>
          <a:p>
            <a:r>
              <a:rPr lang="en-US"/>
              <a:t>Also expression threshold</a:t>
            </a:r>
          </a:p>
        </p188:txBody>
      </p188:reply>
      <p188:reply id="{2C4A81D9-68D8-1941-A35C-FE8C94F5E55D}" authorId="{3684BC72-40D7-8E22-33F5-507B15B318F1}" created="2025-02-20T16:55:29.392">
        <p188:txBody>
          <a:bodyPr/>
          <a:lstStyle/>
          <a:p>
            <a:r>
              <a:rPr lang="en-US"/>
              <a:t>log((number of transcripts/ library size)+1)</a:t>
            </a:r>
          </a:p>
        </p188:txBody>
      </p188:reply>
      <p188:reply id="{2E081C7B-B0C0-5B42-8BD1-E84FFC38D86F}" authorId="{3684BC72-40D7-8E22-33F5-507B15B318F1}" created="2025-02-20T16:59:42.292">
        <p188:txBody>
          <a:bodyPr/>
          <a:lstStyle/>
          <a:p>
            <a:r>
              <a:rPr lang="en-US"/>
              <a:t>Remove genes that are missing in several individuals</a:t>
            </a:r>
          </a:p>
        </p188:txBody>
      </p188:reply>
      <p188:reply id="{D966BE60-4524-CF43-B5F7-338B3ECA1CDC}" authorId="{3684BC72-40D7-8E22-33F5-507B15B318F1}" created="2025-02-20T17:03:58.792">
        <p188:txBody>
          <a:bodyPr/>
          <a:lstStyle/>
          <a:p>
            <a:r>
              <a:rPr lang="en-US"/>
              <a:t>Remove singular</a:t>
            </a:r>
          </a:p>
        </p188:txBody>
      </p188:reply>
      <p188:reply id="{181FDA28-FDAA-324E-8967-5ED37C87545F}" authorId="{3684BC72-40D7-8E22-33F5-507B15B318F1}" created="2025-02-20T17:47:35.546">
        <p188:txBody>
          <a:bodyPr/>
          <a:lstStyle/>
          <a:p>
            <a:r>
              <a:rPr lang="en-US"/>
              <a:t>Size factor as an offset</a:t>
            </a:r>
          </a:p>
        </p188:txBody>
      </p188:reply>
      <p188:reply id="{5CEC4777-A013-0042-8BA2-59179069FAC1}" authorId="{3684BC72-40D7-8E22-33F5-507B15B318F1}" created="2025-02-22T03:44:29.925">
        <p188:txBody>
          <a:bodyPr/>
          <a:lstStyle/>
          <a:p>
            <a:r>
              <a:rPr lang="en-US"/>
              <a:t>This new plot is using the SCT data and 5% cutoff and no singular</a:t>
            </a:r>
          </a:p>
        </p188:txBody>
      </p188:reply>
    </p188:replyLst>
    <p188:txBody>
      <a:bodyPr/>
      <a:lstStyle/>
      <a:p>
        <a:r>
          <a:rPr lang="en-US"/>
          <a:t>I’m kind of concerned about the dog analysis because I’m not correcting for library size</a:t>
        </a:r>
      </a:p>
    </p188:txBody>
  </p188:cm>
  <p188:cm id="{CAFE7AE2-5565-374A-8807-D8FB0EB69D5A}" authorId="{3684BC72-40D7-8E22-33F5-507B15B318F1}" created="2025-02-20T16:46:52.440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61" creationId="{2292693B-60FA-235F-9B99-0CCBAD46FAC2}"/>
    </ac:deMkLst>
    <p188:txBody>
      <a:bodyPr/>
      <a:lstStyle/>
      <a:p>
        <a:r>
          <a:rPr lang="en-US"/>
          <a:t>This is filler while I await our final continuity method</a:t>
        </a:r>
      </a:p>
    </p188:txBody>
  </p188:cm>
  <p188:cm id="{2433F353-B2C6-6B47-A0BA-02431B06E8A0}" authorId="{3684BC72-40D7-8E22-33F5-507B15B318F1}" created="2025-02-20T19:41:57.98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36" creationId="{7FF62B23-D037-E090-F4EE-7FA0A0E42637}"/>
    </ac:deMkLst>
    <p188:txBody>
      <a:bodyPr/>
      <a:lstStyle/>
      <a:p>
        <a:r>
          <a:rPr lang="en-US"/>
          <a:t>Maybe get rid of this actually, it doesn’t seem super informative to me, I write everything it shows in the text</a:t>
        </a:r>
      </a:p>
    </p188:txBody>
  </p188:cm>
  <p188:cm id="{B8224D51-7999-BE44-8934-A026E9A49874}" authorId="{3684BC72-40D7-8E22-33F5-507B15B318F1}" created="2025-02-22T04:00:54.148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1896598304" sldId="258"/>
      <ac:picMk id="175" creationId="{6DEE3C35-9A2A-E294-402B-2105499A502A}"/>
    </ac:deMkLst>
    <p188:txBody>
      <a:bodyPr/>
      <a:lstStyle/>
      <a:p>
        <a:r>
          <a:rPr lang="en-US"/>
          <a:t>GO terms from early up prop dpgs, IDK if GO plots are worth including though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B9FC2A-402F-4208-BF28-6E9934B5FFF3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36788" y="1143000"/>
            <a:ext cx="23844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916EC2F-1C80-4054-A433-AA595BE1DDE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9670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2BA02E-03AD-F1EE-B8A2-2269F9712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08B8949-095F-329B-04D3-3D32F0DF5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36788" y="1143000"/>
            <a:ext cx="238442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7FD90FF-25B6-EE84-ED2F-8BEE52DC2F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73695D-86D4-4B75-4AEB-B7C3F6C277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824922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916EC2F-1C80-4054-A433-AA595BE1DDE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19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2930" y="1646134"/>
            <a:ext cx="6606540" cy="3501813"/>
          </a:xfrm>
        </p:spPr>
        <p:txBody>
          <a:bodyPr anchor="b"/>
          <a:lstStyle>
            <a:lvl1pPr algn="ctr"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71550" y="5282989"/>
            <a:ext cx="5829300" cy="2428451"/>
          </a:xfrm>
        </p:spPr>
        <p:txBody>
          <a:bodyPr/>
          <a:lstStyle>
            <a:lvl1pPr marL="0" indent="0" algn="ctr">
              <a:buNone/>
              <a:defRPr sz="2041"/>
            </a:lvl1pPr>
            <a:lvl2pPr marL="388634" indent="0" algn="ctr">
              <a:buNone/>
              <a:defRPr sz="1700"/>
            </a:lvl2pPr>
            <a:lvl3pPr marL="777270" indent="0" algn="ctr">
              <a:buNone/>
              <a:defRPr sz="1530"/>
            </a:lvl3pPr>
            <a:lvl4pPr marL="1165904" indent="0" algn="ctr">
              <a:buNone/>
              <a:defRPr sz="1360"/>
            </a:lvl4pPr>
            <a:lvl5pPr marL="1554538" indent="0" algn="ctr">
              <a:buNone/>
              <a:defRPr sz="1360"/>
            </a:lvl5pPr>
            <a:lvl6pPr marL="1943173" indent="0" algn="ctr">
              <a:buNone/>
              <a:defRPr sz="1360"/>
            </a:lvl6pPr>
            <a:lvl7pPr marL="2331808" indent="0" algn="ctr">
              <a:buNone/>
              <a:defRPr sz="1360"/>
            </a:lvl7pPr>
            <a:lvl8pPr marL="2720442" indent="0" algn="ctr">
              <a:buNone/>
              <a:defRPr sz="1360"/>
            </a:lvl8pPr>
            <a:lvl9pPr marL="3109077" indent="0" algn="ctr">
              <a:buNone/>
              <a:defRPr sz="136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3553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45169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0307" y="2507618"/>
            <a:ext cx="6703695" cy="4184014"/>
          </a:xfrm>
        </p:spPr>
        <p:txBody>
          <a:bodyPr anchor="b"/>
          <a:lstStyle>
            <a:lvl1pPr>
              <a:defRPr sz="51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0307" y="6731215"/>
            <a:ext cx="6703695" cy="2200274"/>
          </a:xfrm>
        </p:spPr>
        <p:txBody>
          <a:bodyPr/>
          <a:lstStyle>
            <a:lvl1pPr marL="0" indent="0">
              <a:buNone/>
              <a:defRPr sz="2041">
                <a:solidFill>
                  <a:schemeClr val="tx1">
                    <a:tint val="82000"/>
                  </a:schemeClr>
                </a:solidFill>
              </a:defRPr>
            </a:lvl1pPr>
            <a:lvl2pPr marL="388634" indent="0">
              <a:buNone/>
              <a:defRPr sz="1700">
                <a:solidFill>
                  <a:schemeClr val="tx1">
                    <a:tint val="82000"/>
                  </a:schemeClr>
                </a:solidFill>
              </a:defRPr>
            </a:lvl2pPr>
            <a:lvl3pPr marL="777270" indent="0">
              <a:buNone/>
              <a:defRPr sz="1530">
                <a:solidFill>
                  <a:schemeClr val="tx1">
                    <a:tint val="82000"/>
                  </a:schemeClr>
                </a:solidFill>
              </a:defRPr>
            </a:lvl3pPr>
            <a:lvl4pPr marL="1165904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4pPr>
            <a:lvl5pPr marL="155453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5pPr>
            <a:lvl6pPr marL="1943173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6pPr>
            <a:lvl7pPr marL="2331808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7pPr>
            <a:lvl8pPr marL="2720442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8pPr>
            <a:lvl9pPr marL="3109077" indent="0">
              <a:buNone/>
              <a:defRPr sz="136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7297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4353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934778" y="2677585"/>
            <a:ext cx="3303270" cy="63819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7387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535520"/>
            <a:ext cx="6703695" cy="194415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5368" y="2465707"/>
            <a:ext cx="3288089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5368" y="3674111"/>
            <a:ext cx="3288089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34778" y="2465707"/>
            <a:ext cx="3304282" cy="1208404"/>
          </a:xfrm>
        </p:spPr>
        <p:txBody>
          <a:bodyPr anchor="b"/>
          <a:lstStyle>
            <a:lvl1pPr marL="0" indent="0">
              <a:buNone/>
              <a:defRPr sz="2041" b="1"/>
            </a:lvl1pPr>
            <a:lvl2pPr marL="388634" indent="0">
              <a:buNone/>
              <a:defRPr sz="1700" b="1"/>
            </a:lvl2pPr>
            <a:lvl3pPr marL="777270" indent="0">
              <a:buNone/>
              <a:defRPr sz="1530" b="1"/>
            </a:lvl3pPr>
            <a:lvl4pPr marL="1165904" indent="0">
              <a:buNone/>
              <a:defRPr sz="1360" b="1"/>
            </a:lvl4pPr>
            <a:lvl5pPr marL="1554538" indent="0">
              <a:buNone/>
              <a:defRPr sz="1360" b="1"/>
            </a:lvl5pPr>
            <a:lvl6pPr marL="1943173" indent="0">
              <a:buNone/>
              <a:defRPr sz="1360" b="1"/>
            </a:lvl6pPr>
            <a:lvl7pPr marL="2331808" indent="0">
              <a:buNone/>
              <a:defRPr sz="1360" b="1"/>
            </a:lvl7pPr>
            <a:lvl8pPr marL="2720442" indent="0">
              <a:buNone/>
              <a:defRPr sz="1360" b="1"/>
            </a:lvl8pPr>
            <a:lvl9pPr marL="3109077" indent="0">
              <a:buNone/>
              <a:defRPr sz="136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934778" y="3674111"/>
            <a:ext cx="3304282" cy="540406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2140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338587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001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304282" y="1448228"/>
            <a:ext cx="3934778" cy="7147983"/>
          </a:xfrm>
        </p:spPr>
        <p:txBody>
          <a:bodyPr/>
          <a:lstStyle>
            <a:lvl1pPr>
              <a:defRPr sz="2720"/>
            </a:lvl1pPr>
            <a:lvl2pPr>
              <a:defRPr sz="2380"/>
            </a:lvl2pPr>
            <a:lvl3pPr>
              <a:defRPr sz="2041"/>
            </a:lvl3pPr>
            <a:lvl4pPr>
              <a:defRPr sz="1700"/>
            </a:lvl4pPr>
            <a:lvl5pPr>
              <a:defRPr sz="1700"/>
            </a:lvl5pPr>
            <a:lvl6pPr>
              <a:defRPr sz="1700"/>
            </a:lvl6pPr>
            <a:lvl7pPr>
              <a:defRPr sz="1700"/>
            </a:lvl7pPr>
            <a:lvl8pPr>
              <a:defRPr sz="1700"/>
            </a:lvl8pPr>
            <a:lvl9pPr>
              <a:defRPr sz="17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62490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35367" y="670560"/>
            <a:ext cx="2506801" cy="2346960"/>
          </a:xfrm>
        </p:spPr>
        <p:txBody>
          <a:bodyPr anchor="b"/>
          <a:lstStyle>
            <a:lvl1pPr>
              <a:defRPr sz="27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304282" y="1448228"/>
            <a:ext cx="3934778" cy="7147983"/>
          </a:xfrm>
        </p:spPr>
        <p:txBody>
          <a:bodyPr anchor="t"/>
          <a:lstStyle>
            <a:lvl1pPr marL="0" indent="0">
              <a:buNone/>
              <a:defRPr sz="2720"/>
            </a:lvl1pPr>
            <a:lvl2pPr marL="388634" indent="0">
              <a:buNone/>
              <a:defRPr sz="2380"/>
            </a:lvl2pPr>
            <a:lvl3pPr marL="777270" indent="0">
              <a:buNone/>
              <a:defRPr sz="2041"/>
            </a:lvl3pPr>
            <a:lvl4pPr marL="1165904" indent="0">
              <a:buNone/>
              <a:defRPr sz="1700"/>
            </a:lvl4pPr>
            <a:lvl5pPr marL="1554538" indent="0">
              <a:buNone/>
              <a:defRPr sz="1700"/>
            </a:lvl5pPr>
            <a:lvl6pPr marL="1943173" indent="0">
              <a:buNone/>
              <a:defRPr sz="1700"/>
            </a:lvl6pPr>
            <a:lvl7pPr marL="2331808" indent="0">
              <a:buNone/>
              <a:defRPr sz="1700"/>
            </a:lvl7pPr>
            <a:lvl8pPr marL="2720442" indent="0">
              <a:buNone/>
              <a:defRPr sz="1700"/>
            </a:lvl8pPr>
            <a:lvl9pPr marL="3109077" indent="0">
              <a:buNone/>
              <a:defRPr sz="17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35367" y="3017520"/>
            <a:ext cx="2506801" cy="5590329"/>
          </a:xfrm>
        </p:spPr>
        <p:txBody>
          <a:bodyPr/>
          <a:lstStyle>
            <a:lvl1pPr marL="0" indent="0">
              <a:buNone/>
              <a:defRPr sz="1360"/>
            </a:lvl1pPr>
            <a:lvl2pPr marL="388634" indent="0">
              <a:buNone/>
              <a:defRPr sz="1189"/>
            </a:lvl2pPr>
            <a:lvl3pPr marL="777270" indent="0">
              <a:buNone/>
              <a:defRPr sz="1020"/>
            </a:lvl3pPr>
            <a:lvl4pPr marL="1165904" indent="0">
              <a:buNone/>
              <a:defRPr sz="850"/>
            </a:lvl4pPr>
            <a:lvl5pPr marL="1554538" indent="0">
              <a:buNone/>
              <a:defRPr sz="850"/>
            </a:lvl5pPr>
            <a:lvl6pPr marL="1943173" indent="0">
              <a:buNone/>
              <a:defRPr sz="850"/>
            </a:lvl6pPr>
            <a:lvl7pPr marL="2331808" indent="0">
              <a:buNone/>
              <a:defRPr sz="850"/>
            </a:lvl7pPr>
            <a:lvl8pPr marL="2720442" indent="0">
              <a:buNone/>
              <a:defRPr sz="850"/>
            </a:lvl8pPr>
            <a:lvl9pPr marL="3109077" indent="0">
              <a:buNone/>
              <a:defRPr sz="8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70677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6274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562124" y="535517"/>
            <a:ext cx="1675924" cy="852402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4353" y="535517"/>
            <a:ext cx="4930616" cy="852402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36893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34355" y="535520"/>
            <a:ext cx="6703695" cy="19441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4355" y="2677585"/>
            <a:ext cx="6703695" cy="6381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34353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A3FF75-DA4A-4098-A13F-1BCC0396F579}" type="datetimeFigureOut">
              <a:rPr lang="en-US" smtClean="0"/>
              <a:t>2/22/25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74610" y="9322651"/>
            <a:ext cx="2623185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489258" y="9322651"/>
            <a:ext cx="1748790" cy="53551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2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D776305-304E-4F34-BC4B-0F4568F1D78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1949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777270" rtl="0" eaLnBrk="1" latinLnBrk="0" hangingPunct="1">
        <a:lnSpc>
          <a:spcPct val="90000"/>
        </a:lnSpc>
        <a:spcBef>
          <a:spcPct val="0"/>
        </a:spcBef>
        <a:buNone/>
        <a:defRPr sz="374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94318" indent="-194318" algn="l" defTabSz="777270" rtl="0" eaLnBrk="1" latinLnBrk="0" hangingPunct="1">
        <a:lnSpc>
          <a:spcPct val="90000"/>
        </a:lnSpc>
        <a:spcBef>
          <a:spcPts val="850"/>
        </a:spcBef>
        <a:buFont typeface="Arial" panose="020B0604020202020204" pitchFamily="34" charset="0"/>
        <a:buChar char="•"/>
        <a:defRPr sz="2380" kern="1200">
          <a:solidFill>
            <a:schemeClr val="tx1"/>
          </a:solidFill>
          <a:latin typeface="+mn-lt"/>
          <a:ea typeface="+mn-ea"/>
          <a:cs typeface="+mn-cs"/>
        </a:defRPr>
      </a:lvl1pPr>
      <a:lvl2pPr marL="58295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2041" kern="1200">
          <a:solidFill>
            <a:schemeClr val="tx1"/>
          </a:solidFill>
          <a:latin typeface="+mn-lt"/>
          <a:ea typeface="+mn-ea"/>
          <a:cs typeface="+mn-cs"/>
        </a:defRPr>
      </a:lvl2pPr>
      <a:lvl3pPr marL="97158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700" kern="1200">
          <a:solidFill>
            <a:schemeClr val="tx1"/>
          </a:solidFill>
          <a:latin typeface="+mn-lt"/>
          <a:ea typeface="+mn-ea"/>
          <a:cs typeface="+mn-cs"/>
        </a:defRPr>
      </a:lvl3pPr>
      <a:lvl4pPr marL="1360222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748856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2137490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526125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914759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303394" indent="-194318" algn="l" defTabSz="777270" rtl="0" eaLnBrk="1" latinLnBrk="0" hangingPunct="1">
        <a:lnSpc>
          <a:spcPct val="90000"/>
        </a:lnSpc>
        <a:spcBef>
          <a:spcPts val="425"/>
        </a:spcBef>
        <a:buFont typeface="Arial" panose="020B0604020202020204" pitchFamily="34" charset="0"/>
        <a:buChar char="•"/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1pPr>
      <a:lvl2pPr marL="38863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2pPr>
      <a:lvl3pPr marL="777270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3pPr>
      <a:lvl4pPr marL="1165904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4pPr>
      <a:lvl5pPr marL="155453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5pPr>
      <a:lvl6pPr marL="1943173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6pPr>
      <a:lvl7pPr marL="2331808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7pPr>
      <a:lvl8pPr marL="2720442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8pPr>
      <a:lvl9pPr marL="3109077" algn="l" defTabSz="777270" rtl="0" eaLnBrk="1" latinLnBrk="0" hangingPunct="1">
        <a:defRPr sz="153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jpg"/><Relationship Id="rId13" Type="http://schemas.openxmlformats.org/officeDocument/2006/relationships/image" Target="../media/image11.png"/><Relationship Id="rId18" Type="http://schemas.openxmlformats.org/officeDocument/2006/relationships/image" Target="../media/image16.svg"/><Relationship Id="rId3" Type="http://schemas.openxmlformats.org/officeDocument/2006/relationships/image" Target="../media/image1.png"/><Relationship Id="rId21" Type="http://schemas.openxmlformats.org/officeDocument/2006/relationships/image" Target="../media/image19.png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svg"/><Relationship Id="rId20" Type="http://schemas.openxmlformats.org/officeDocument/2006/relationships/image" Target="../media/image18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emf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jp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jpeg"/><Relationship Id="rId14" Type="http://schemas.openxmlformats.org/officeDocument/2006/relationships/image" Target="../media/image12.svg"/><Relationship Id="rId22" Type="http://schemas.openxmlformats.org/officeDocument/2006/relationships/image" Target="../media/image20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tiff"/><Relationship Id="rId13" Type="http://schemas.openxmlformats.org/officeDocument/2006/relationships/image" Target="../media/image30.png"/><Relationship Id="rId18" Type="http://schemas.openxmlformats.org/officeDocument/2006/relationships/image" Target="../media/image35.svg"/><Relationship Id="rId3" Type="http://schemas.microsoft.com/office/2018/10/relationships/comments" Target="../comments/modernComment_102_710BCB20.xml"/><Relationship Id="rId7" Type="http://schemas.openxmlformats.org/officeDocument/2006/relationships/image" Target="../media/image24.svg"/><Relationship Id="rId12" Type="http://schemas.openxmlformats.org/officeDocument/2006/relationships/image" Target="../media/image29.svg"/><Relationship Id="rId17" Type="http://schemas.openxmlformats.org/officeDocument/2006/relationships/image" Target="../media/image34.png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33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png"/><Relationship Id="rId11" Type="http://schemas.openxmlformats.org/officeDocument/2006/relationships/image" Target="../media/image28.png"/><Relationship Id="rId5" Type="http://schemas.openxmlformats.org/officeDocument/2006/relationships/image" Target="../media/image22.svg"/><Relationship Id="rId15" Type="http://schemas.openxmlformats.org/officeDocument/2006/relationships/image" Target="../media/image32.png"/><Relationship Id="rId10" Type="http://schemas.openxmlformats.org/officeDocument/2006/relationships/image" Target="../media/image27.tiff"/><Relationship Id="rId4" Type="http://schemas.openxmlformats.org/officeDocument/2006/relationships/image" Target="../media/image21.png"/><Relationship Id="rId9" Type="http://schemas.openxmlformats.org/officeDocument/2006/relationships/image" Target="../media/image26.tiff"/><Relationship Id="rId14" Type="http://schemas.openxmlformats.org/officeDocument/2006/relationships/image" Target="../media/image31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sv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83F57F-2464-5101-29EA-7853824E3A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6" name="Group 95">
            <a:extLst>
              <a:ext uri="{FF2B5EF4-FFF2-40B4-BE49-F238E27FC236}">
                <a16:creationId xmlns:a16="http://schemas.microsoft.com/office/drawing/2014/main" id="{9AAD705D-8FB7-F8D5-8E01-01E0077775B3}"/>
              </a:ext>
            </a:extLst>
          </p:cNvPr>
          <p:cNvGrpSpPr/>
          <p:nvPr/>
        </p:nvGrpSpPr>
        <p:grpSpPr>
          <a:xfrm>
            <a:off x="5579340" y="1374579"/>
            <a:ext cx="1947752" cy="1906421"/>
            <a:chOff x="6350179" y="1818958"/>
            <a:chExt cx="2291473" cy="2242848"/>
          </a:xfrm>
        </p:grpSpPr>
        <p:pic>
          <p:nvPicPr>
            <p:cNvPr id="84" name="Picture 83">
              <a:extLst>
                <a:ext uri="{FF2B5EF4-FFF2-40B4-BE49-F238E27FC236}">
                  <a16:creationId xmlns:a16="http://schemas.microsoft.com/office/drawing/2014/main" id="{23E8732A-57A4-76C9-9A80-746F4E6DD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50179" y="1818958"/>
              <a:ext cx="2291473" cy="2242848"/>
            </a:xfrm>
            <a:prstGeom prst="rect">
              <a:avLst/>
            </a:prstGeom>
          </p:spPr>
        </p:pic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CC430EAE-6258-95E8-6531-D294511FF6EF}"/>
                </a:ext>
              </a:extLst>
            </p:cNvPr>
            <p:cNvGrpSpPr/>
            <p:nvPr/>
          </p:nvGrpSpPr>
          <p:grpSpPr>
            <a:xfrm>
              <a:off x="7444996" y="3261884"/>
              <a:ext cx="117763" cy="206769"/>
              <a:chOff x="4572000" y="2009553"/>
              <a:chExt cx="914400" cy="1605516"/>
            </a:xfrm>
          </p:grpSpPr>
          <p:sp>
            <p:nvSpPr>
              <p:cNvPr id="81" name="Oval 80">
                <a:extLst>
                  <a:ext uri="{FF2B5EF4-FFF2-40B4-BE49-F238E27FC236}">
                    <a16:creationId xmlns:a16="http://schemas.microsoft.com/office/drawing/2014/main" id="{18F8D354-4177-D94D-21F4-8525E62F35C0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2" name="Chord 81">
                <a:extLst>
                  <a:ext uri="{FF2B5EF4-FFF2-40B4-BE49-F238E27FC236}">
                    <a16:creationId xmlns:a16="http://schemas.microsoft.com/office/drawing/2014/main" id="{62C311BE-B3D5-067B-5C46-B69FA314FF9C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3" name="Trapezoid 82">
                <a:extLst>
                  <a:ext uri="{FF2B5EF4-FFF2-40B4-BE49-F238E27FC236}">
                    <a16:creationId xmlns:a16="http://schemas.microsoft.com/office/drawing/2014/main" id="{4556EF8F-EE02-41E0-A06A-90FCA3391C6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7DBE4688-3145-80C2-31DF-FD3E852280CE}"/>
                </a:ext>
              </a:extLst>
            </p:cNvPr>
            <p:cNvGrpSpPr/>
            <p:nvPr/>
          </p:nvGrpSpPr>
          <p:grpSpPr>
            <a:xfrm>
              <a:off x="7568352" y="3385239"/>
              <a:ext cx="117763" cy="206769"/>
              <a:chOff x="4572000" y="2009553"/>
              <a:chExt cx="914400" cy="1605516"/>
            </a:xfrm>
          </p:grpSpPr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8F4E9F3E-0BC6-C322-270E-6F9FB0C3772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9" name="Chord 78">
                <a:extLst>
                  <a:ext uri="{FF2B5EF4-FFF2-40B4-BE49-F238E27FC236}">
                    <a16:creationId xmlns:a16="http://schemas.microsoft.com/office/drawing/2014/main" id="{5FDA50DA-273E-D9A8-E3BC-E7E88DC26A85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80" name="Trapezoid 79">
                <a:extLst>
                  <a:ext uri="{FF2B5EF4-FFF2-40B4-BE49-F238E27FC236}">
                    <a16:creationId xmlns:a16="http://schemas.microsoft.com/office/drawing/2014/main" id="{BEAB40F3-791F-37C7-8E95-85B6A4F506E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21FC25-29C8-627A-3838-DCF006734D04}"/>
                </a:ext>
              </a:extLst>
            </p:cNvPr>
            <p:cNvGrpSpPr/>
            <p:nvPr/>
          </p:nvGrpSpPr>
          <p:grpSpPr>
            <a:xfrm>
              <a:off x="7691708" y="3508595"/>
              <a:ext cx="117763" cy="206769"/>
              <a:chOff x="4572000" y="2009553"/>
              <a:chExt cx="914400" cy="1605516"/>
            </a:xfrm>
          </p:grpSpPr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EA3C3549-B895-CF84-758D-EF0CCE7B1CE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6" name="Chord 75">
                <a:extLst>
                  <a:ext uri="{FF2B5EF4-FFF2-40B4-BE49-F238E27FC236}">
                    <a16:creationId xmlns:a16="http://schemas.microsoft.com/office/drawing/2014/main" id="{8337E4E3-E387-F899-AEF8-5A089F60EA5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7" name="Trapezoid 76">
                <a:extLst>
                  <a:ext uri="{FF2B5EF4-FFF2-40B4-BE49-F238E27FC236}">
                    <a16:creationId xmlns:a16="http://schemas.microsoft.com/office/drawing/2014/main" id="{6ECBDF03-C014-DDC1-5CFD-3181308890DC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E2DAF4B1-E957-1E85-8931-7F04703F92FB}"/>
                </a:ext>
              </a:extLst>
            </p:cNvPr>
            <p:cNvGrpSpPr/>
            <p:nvPr/>
          </p:nvGrpSpPr>
          <p:grpSpPr>
            <a:xfrm>
              <a:off x="7414871" y="3319962"/>
              <a:ext cx="117763" cy="206769"/>
              <a:chOff x="4572000" y="2009553"/>
              <a:chExt cx="914400" cy="1605516"/>
            </a:xfrm>
          </p:grpSpPr>
          <p:sp>
            <p:nvSpPr>
              <p:cNvPr id="72" name="Oval 71">
                <a:extLst>
                  <a:ext uri="{FF2B5EF4-FFF2-40B4-BE49-F238E27FC236}">
                    <a16:creationId xmlns:a16="http://schemas.microsoft.com/office/drawing/2014/main" id="{3C643F46-92CC-CEDB-5872-2CF3ABD9FCEE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3" name="Chord 72">
                <a:extLst>
                  <a:ext uri="{FF2B5EF4-FFF2-40B4-BE49-F238E27FC236}">
                    <a16:creationId xmlns:a16="http://schemas.microsoft.com/office/drawing/2014/main" id="{A3EB0397-C377-E238-ABC2-48FE85EFEDE3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4" name="Trapezoid 73">
                <a:extLst>
                  <a:ext uri="{FF2B5EF4-FFF2-40B4-BE49-F238E27FC236}">
                    <a16:creationId xmlns:a16="http://schemas.microsoft.com/office/drawing/2014/main" id="{3C29442F-CF75-1EAE-7BE6-FF4702F3CE22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2" name="Group 31">
              <a:extLst>
                <a:ext uri="{FF2B5EF4-FFF2-40B4-BE49-F238E27FC236}">
                  <a16:creationId xmlns:a16="http://schemas.microsoft.com/office/drawing/2014/main" id="{8F438DA8-9C83-748D-F959-2219F249B389}"/>
                </a:ext>
              </a:extLst>
            </p:cNvPr>
            <p:cNvGrpSpPr/>
            <p:nvPr/>
          </p:nvGrpSpPr>
          <p:grpSpPr>
            <a:xfrm>
              <a:off x="7538227" y="3443318"/>
              <a:ext cx="117763" cy="206769"/>
              <a:chOff x="4572000" y="2009553"/>
              <a:chExt cx="914400" cy="1605516"/>
            </a:xfrm>
          </p:grpSpPr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8E466ED4-B237-399C-D658-C235EF100B9B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0" name="Chord 69">
                <a:extLst>
                  <a:ext uri="{FF2B5EF4-FFF2-40B4-BE49-F238E27FC236}">
                    <a16:creationId xmlns:a16="http://schemas.microsoft.com/office/drawing/2014/main" id="{A46B428B-5A8A-8389-56F9-5DEBC4C4DDB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71" name="Trapezoid 70">
                <a:extLst>
                  <a:ext uri="{FF2B5EF4-FFF2-40B4-BE49-F238E27FC236}">
                    <a16:creationId xmlns:a16="http://schemas.microsoft.com/office/drawing/2014/main" id="{69426AAE-3F8F-CB02-46D8-299530C74231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EB6CB838-BEC2-D008-A884-983617D38BD2}"/>
                </a:ext>
              </a:extLst>
            </p:cNvPr>
            <p:cNvGrpSpPr/>
            <p:nvPr/>
          </p:nvGrpSpPr>
          <p:grpSpPr>
            <a:xfrm>
              <a:off x="7661583" y="3566673"/>
              <a:ext cx="117763" cy="206769"/>
              <a:chOff x="4572000" y="2009553"/>
              <a:chExt cx="914400" cy="1605516"/>
            </a:xfrm>
          </p:grpSpPr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B0DE8FCB-828B-A7D3-F723-E39A8647E71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7" name="Chord 66">
                <a:extLst>
                  <a:ext uri="{FF2B5EF4-FFF2-40B4-BE49-F238E27FC236}">
                    <a16:creationId xmlns:a16="http://schemas.microsoft.com/office/drawing/2014/main" id="{772D650B-2E29-695B-0AF6-C4A8115B127B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8" name="Trapezoid 67">
                <a:extLst>
                  <a:ext uri="{FF2B5EF4-FFF2-40B4-BE49-F238E27FC236}">
                    <a16:creationId xmlns:a16="http://schemas.microsoft.com/office/drawing/2014/main" id="{B7A654D7-BDBA-6461-6DF6-4CF7A54A486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4" name="Group 33">
              <a:extLst>
                <a:ext uri="{FF2B5EF4-FFF2-40B4-BE49-F238E27FC236}">
                  <a16:creationId xmlns:a16="http://schemas.microsoft.com/office/drawing/2014/main" id="{F0EF1B2A-DD62-1D62-BCFE-54FE5DFF0DCC}"/>
                </a:ext>
              </a:extLst>
            </p:cNvPr>
            <p:cNvGrpSpPr/>
            <p:nvPr/>
          </p:nvGrpSpPr>
          <p:grpSpPr>
            <a:xfrm>
              <a:off x="7433862" y="3399636"/>
              <a:ext cx="117763" cy="206769"/>
              <a:chOff x="4572000" y="2009553"/>
              <a:chExt cx="914400" cy="1605516"/>
            </a:xfrm>
          </p:grpSpPr>
          <p:sp>
            <p:nvSpPr>
              <p:cNvPr id="63" name="Oval 62">
                <a:extLst>
                  <a:ext uri="{FF2B5EF4-FFF2-40B4-BE49-F238E27FC236}">
                    <a16:creationId xmlns:a16="http://schemas.microsoft.com/office/drawing/2014/main" id="{83905444-F349-B059-8023-4BFFA405BE19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4" name="Chord 63">
                <a:extLst>
                  <a:ext uri="{FF2B5EF4-FFF2-40B4-BE49-F238E27FC236}">
                    <a16:creationId xmlns:a16="http://schemas.microsoft.com/office/drawing/2014/main" id="{29900DED-0679-3B2A-A810-2F474322A58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5" name="Trapezoid 64">
                <a:extLst>
                  <a:ext uri="{FF2B5EF4-FFF2-40B4-BE49-F238E27FC236}">
                    <a16:creationId xmlns:a16="http://schemas.microsoft.com/office/drawing/2014/main" id="{1ED28719-00BD-6A82-D7BE-145FAD08031A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5" name="Group 34">
              <a:extLst>
                <a:ext uri="{FF2B5EF4-FFF2-40B4-BE49-F238E27FC236}">
                  <a16:creationId xmlns:a16="http://schemas.microsoft.com/office/drawing/2014/main" id="{14C00BAD-C7EB-338F-4950-FFF12F0D763E}"/>
                </a:ext>
              </a:extLst>
            </p:cNvPr>
            <p:cNvGrpSpPr/>
            <p:nvPr/>
          </p:nvGrpSpPr>
          <p:grpSpPr>
            <a:xfrm>
              <a:off x="7557218" y="3522992"/>
              <a:ext cx="117763" cy="206769"/>
              <a:chOff x="4572000" y="2009553"/>
              <a:chExt cx="914400" cy="1605516"/>
            </a:xfrm>
          </p:grpSpPr>
          <p:sp>
            <p:nvSpPr>
              <p:cNvPr id="60" name="Oval 59">
                <a:extLst>
                  <a:ext uri="{FF2B5EF4-FFF2-40B4-BE49-F238E27FC236}">
                    <a16:creationId xmlns:a16="http://schemas.microsoft.com/office/drawing/2014/main" id="{E8CF3034-5E28-3EC5-F98D-3AC0CBA9041A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1" name="Chord 60">
                <a:extLst>
                  <a:ext uri="{FF2B5EF4-FFF2-40B4-BE49-F238E27FC236}">
                    <a16:creationId xmlns:a16="http://schemas.microsoft.com/office/drawing/2014/main" id="{F9E34843-AD33-74D2-6801-C27B6773E432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62" name="Trapezoid 61">
                <a:extLst>
                  <a:ext uri="{FF2B5EF4-FFF2-40B4-BE49-F238E27FC236}">
                    <a16:creationId xmlns:a16="http://schemas.microsoft.com/office/drawing/2014/main" id="{CB28BD32-FF0A-5151-E4F0-0E4B704DD77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6" name="Group 35">
              <a:extLst>
                <a:ext uri="{FF2B5EF4-FFF2-40B4-BE49-F238E27FC236}">
                  <a16:creationId xmlns:a16="http://schemas.microsoft.com/office/drawing/2014/main" id="{82B75B3C-C4E6-19DC-29E4-01958CB71946}"/>
                </a:ext>
              </a:extLst>
            </p:cNvPr>
            <p:cNvGrpSpPr/>
            <p:nvPr/>
          </p:nvGrpSpPr>
          <p:grpSpPr>
            <a:xfrm>
              <a:off x="7360295" y="3406138"/>
              <a:ext cx="117763" cy="206769"/>
              <a:chOff x="4572000" y="2009553"/>
              <a:chExt cx="914400" cy="1605516"/>
            </a:xfrm>
          </p:grpSpPr>
          <p:sp>
            <p:nvSpPr>
              <p:cNvPr id="57" name="Oval 56">
                <a:extLst>
                  <a:ext uri="{FF2B5EF4-FFF2-40B4-BE49-F238E27FC236}">
                    <a16:creationId xmlns:a16="http://schemas.microsoft.com/office/drawing/2014/main" id="{BF1A01CF-ED66-8F71-F1BD-EF1D7EFC6EE7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8" name="Chord 57">
                <a:extLst>
                  <a:ext uri="{FF2B5EF4-FFF2-40B4-BE49-F238E27FC236}">
                    <a16:creationId xmlns:a16="http://schemas.microsoft.com/office/drawing/2014/main" id="{4D7D4BCC-F1FA-2C70-E2E3-19EF12E3A21F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9" name="Trapezoid 58">
                <a:extLst>
                  <a:ext uri="{FF2B5EF4-FFF2-40B4-BE49-F238E27FC236}">
                    <a16:creationId xmlns:a16="http://schemas.microsoft.com/office/drawing/2014/main" id="{CFD49AB5-17EE-B035-9EEE-9F12F40728E4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FDA47539-7FAC-0DE0-F12B-EC552468C120}"/>
                </a:ext>
              </a:extLst>
            </p:cNvPr>
            <p:cNvGrpSpPr/>
            <p:nvPr/>
          </p:nvGrpSpPr>
          <p:grpSpPr>
            <a:xfrm>
              <a:off x="7680573" y="3646348"/>
              <a:ext cx="117763" cy="206769"/>
              <a:chOff x="4572000" y="2009553"/>
              <a:chExt cx="914400" cy="1605516"/>
            </a:xfrm>
          </p:grpSpPr>
          <p:sp>
            <p:nvSpPr>
              <p:cNvPr id="54" name="Oval 53">
                <a:extLst>
                  <a:ext uri="{FF2B5EF4-FFF2-40B4-BE49-F238E27FC236}">
                    <a16:creationId xmlns:a16="http://schemas.microsoft.com/office/drawing/2014/main" id="{76044CD1-2B72-1CAB-42A7-93DCCE3E18B5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5" name="Chord 54">
                <a:extLst>
                  <a:ext uri="{FF2B5EF4-FFF2-40B4-BE49-F238E27FC236}">
                    <a16:creationId xmlns:a16="http://schemas.microsoft.com/office/drawing/2014/main" id="{CD2CB25A-4B94-6907-FB77-34E313EB1BCD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6" name="Trapezoid 55">
                <a:extLst>
                  <a:ext uri="{FF2B5EF4-FFF2-40B4-BE49-F238E27FC236}">
                    <a16:creationId xmlns:a16="http://schemas.microsoft.com/office/drawing/2014/main" id="{FDC22592-5041-7546-D75E-97FB3F8FBCB0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BA905CA8-469C-5A44-DDB7-48B4DF49489A}"/>
                </a:ext>
              </a:extLst>
            </p:cNvPr>
            <p:cNvGrpSpPr/>
            <p:nvPr/>
          </p:nvGrpSpPr>
          <p:grpSpPr>
            <a:xfrm>
              <a:off x="7363776" y="3521369"/>
              <a:ext cx="117763" cy="206769"/>
              <a:chOff x="4572000" y="2009553"/>
              <a:chExt cx="914400" cy="1605516"/>
            </a:xfrm>
          </p:grpSpPr>
          <p:sp>
            <p:nvSpPr>
              <p:cNvPr id="51" name="Oval 50">
                <a:extLst>
                  <a:ext uri="{FF2B5EF4-FFF2-40B4-BE49-F238E27FC236}">
                    <a16:creationId xmlns:a16="http://schemas.microsoft.com/office/drawing/2014/main" id="{B8A2223F-4146-FB99-8317-F1AC38DB5E46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2" name="Chord 51">
                <a:extLst>
                  <a:ext uri="{FF2B5EF4-FFF2-40B4-BE49-F238E27FC236}">
                    <a16:creationId xmlns:a16="http://schemas.microsoft.com/office/drawing/2014/main" id="{39C29116-F0E3-1A36-07D6-EA7A74948450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3" name="Trapezoid 52">
                <a:extLst>
                  <a:ext uri="{FF2B5EF4-FFF2-40B4-BE49-F238E27FC236}">
                    <a16:creationId xmlns:a16="http://schemas.microsoft.com/office/drawing/2014/main" id="{B40D8944-F266-6127-2A32-B22D5B27DFA9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8D25288-23FA-36B4-C50C-640F269564D3}"/>
                </a:ext>
              </a:extLst>
            </p:cNvPr>
            <p:cNvGrpSpPr/>
            <p:nvPr/>
          </p:nvGrpSpPr>
          <p:grpSpPr>
            <a:xfrm>
              <a:off x="7483581" y="3589059"/>
              <a:ext cx="117763" cy="206769"/>
              <a:chOff x="4572000" y="2009553"/>
              <a:chExt cx="914400" cy="1605516"/>
            </a:xfrm>
          </p:grpSpPr>
          <p:sp>
            <p:nvSpPr>
              <p:cNvPr id="48" name="Oval 47">
                <a:extLst>
                  <a:ext uri="{FF2B5EF4-FFF2-40B4-BE49-F238E27FC236}">
                    <a16:creationId xmlns:a16="http://schemas.microsoft.com/office/drawing/2014/main" id="{EA707777-FDFC-5E7A-2225-63215A8E5F52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9" name="Chord 48">
                <a:extLst>
                  <a:ext uri="{FF2B5EF4-FFF2-40B4-BE49-F238E27FC236}">
                    <a16:creationId xmlns:a16="http://schemas.microsoft.com/office/drawing/2014/main" id="{03BD0E02-9523-4891-C5EA-E90622D3C0C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50" name="Trapezoid 49">
                <a:extLst>
                  <a:ext uri="{FF2B5EF4-FFF2-40B4-BE49-F238E27FC236}">
                    <a16:creationId xmlns:a16="http://schemas.microsoft.com/office/drawing/2014/main" id="{F12F3069-AB21-6E1C-CEEB-BDE6B05EA8E5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BFD0CF4F-CD6F-E4E7-8E07-4DAF9B0A5768}"/>
                </a:ext>
              </a:extLst>
            </p:cNvPr>
            <p:cNvGrpSpPr/>
            <p:nvPr/>
          </p:nvGrpSpPr>
          <p:grpSpPr>
            <a:xfrm>
              <a:off x="7546083" y="3673266"/>
              <a:ext cx="117763" cy="206769"/>
              <a:chOff x="4572000" y="2009553"/>
              <a:chExt cx="914400" cy="1605516"/>
            </a:xfrm>
          </p:grpSpPr>
          <p:sp>
            <p:nvSpPr>
              <p:cNvPr id="45" name="Oval 44">
                <a:extLst>
                  <a:ext uri="{FF2B5EF4-FFF2-40B4-BE49-F238E27FC236}">
                    <a16:creationId xmlns:a16="http://schemas.microsoft.com/office/drawing/2014/main" id="{BBC9EEC3-E230-80A8-E15C-556C8B9D644C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6" name="Chord 45">
                <a:extLst>
                  <a:ext uri="{FF2B5EF4-FFF2-40B4-BE49-F238E27FC236}">
                    <a16:creationId xmlns:a16="http://schemas.microsoft.com/office/drawing/2014/main" id="{70D2F313-E622-19D1-70D8-4E1A963D3EE8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7" name="Trapezoid 46">
                <a:extLst>
                  <a:ext uri="{FF2B5EF4-FFF2-40B4-BE49-F238E27FC236}">
                    <a16:creationId xmlns:a16="http://schemas.microsoft.com/office/drawing/2014/main" id="{06677350-411E-7F35-0FC3-9AD7D93F72CD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71232D8-270F-1A27-8502-638764DA46A3}"/>
                </a:ext>
              </a:extLst>
            </p:cNvPr>
            <p:cNvGrpSpPr/>
            <p:nvPr/>
          </p:nvGrpSpPr>
          <p:grpSpPr>
            <a:xfrm>
              <a:off x="7317808" y="3612772"/>
              <a:ext cx="117763" cy="206769"/>
              <a:chOff x="4572000" y="2009553"/>
              <a:chExt cx="914400" cy="1605516"/>
            </a:xfrm>
          </p:grpSpPr>
          <p:sp>
            <p:nvSpPr>
              <p:cNvPr id="42" name="Oval 41">
                <a:extLst>
                  <a:ext uri="{FF2B5EF4-FFF2-40B4-BE49-F238E27FC236}">
                    <a16:creationId xmlns:a16="http://schemas.microsoft.com/office/drawing/2014/main" id="{284B54F4-2D77-1ED3-1870-4C9846DC2A63}"/>
                  </a:ext>
                </a:extLst>
              </p:cNvPr>
              <p:cNvSpPr/>
              <p:nvPr/>
            </p:nvSpPr>
            <p:spPr>
              <a:xfrm>
                <a:off x="4572000" y="2009553"/>
                <a:ext cx="914400" cy="1419447"/>
              </a:xfrm>
              <a:prstGeom prst="ellipse">
                <a:avLst/>
              </a:prstGeom>
              <a:solidFill>
                <a:srgbClr val="FFC00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3" name="Chord 42">
                <a:extLst>
                  <a:ext uri="{FF2B5EF4-FFF2-40B4-BE49-F238E27FC236}">
                    <a16:creationId xmlns:a16="http://schemas.microsoft.com/office/drawing/2014/main" id="{6F0CE269-E650-A86B-D069-803A048A5DEE}"/>
                  </a:ext>
                </a:extLst>
              </p:cNvPr>
              <p:cNvSpPr/>
              <p:nvPr/>
            </p:nvSpPr>
            <p:spPr>
              <a:xfrm rot="16467156">
                <a:off x="4724244" y="2766598"/>
                <a:ext cx="598208" cy="683213"/>
              </a:xfrm>
              <a:prstGeom prst="chord">
                <a:avLst>
                  <a:gd name="adj1" fmla="val 5643803"/>
                  <a:gd name="adj2" fmla="val 15567495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  <p:sp>
            <p:nvSpPr>
              <p:cNvPr id="44" name="Trapezoid 43">
                <a:extLst>
                  <a:ext uri="{FF2B5EF4-FFF2-40B4-BE49-F238E27FC236}">
                    <a16:creationId xmlns:a16="http://schemas.microsoft.com/office/drawing/2014/main" id="{50D0428F-F83A-C95D-1F09-E86F2F853167}"/>
                  </a:ext>
                </a:extLst>
              </p:cNvPr>
              <p:cNvSpPr/>
              <p:nvPr/>
            </p:nvSpPr>
            <p:spPr>
              <a:xfrm>
                <a:off x="4795283" y="3418367"/>
                <a:ext cx="457200" cy="196702"/>
              </a:xfrm>
              <a:prstGeom prst="trapezoid">
                <a:avLst/>
              </a:prstGeom>
              <a:solidFill>
                <a:schemeClr val="bg1">
                  <a:lumMod val="65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530"/>
              </a:p>
            </p:txBody>
          </p:sp>
        </p:grpSp>
        <p:pic>
          <p:nvPicPr>
            <p:cNvPr id="92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6F933B82-9D70-08BF-7444-1F6653B729E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546396" y="2480344"/>
              <a:ext cx="1390914" cy="7267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93" name="Picture 2" descr="Clownfish - Free vector clipart images on creazilla.com">
              <a:extLst>
                <a:ext uri="{FF2B5EF4-FFF2-40B4-BE49-F238E27FC236}">
                  <a16:creationId xmlns:a16="http://schemas.microsoft.com/office/drawing/2014/main" id="{21D78739-8A62-27FE-C8A9-A1F71A835E1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077758" y="2809707"/>
              <a:ext cx="1155452" cy="59470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94" name="TextBox 93">
              <a:extLst>
                <a:ext uri="{FF2B5EF4-FFF2-40B4-BE49-F238E27FC236}">
                  <a16:creationId xmlns:a16="http://schemas.microsoft.com/office/drawing/2014/main" id="{656FB037-D4A2-4DFD-2B53-D69ED8899F5F}"/>
                </a:ext>
              </a:extLst>
            </p:cNvPr>
            <p:cNvSpPr txBox="1"/>
            <p:nvPr/>
          </p:nvSpPr>
          <p:spPr>
            <a:xfrm>
              <a:off x="7077758" y="2120476"/>
              <a:ext cx="1155451" cy="84729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4080" dirty="0">
                  <a:latin typeface="Google Sans"/>
                </a:rPr>
                <a:t>♂</a:t>
              </a:r>
              <a:endParaRPr lang="en-US" sz="4080" dirty="0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628B5C59-DE19-AF8F-0E66-170914408AB8}"/>
                </a:ext>
              </a:extLst>
            </p:cNvPr>
            <p:cNvSpPr txBox="1"/>
            <p:nvPr/>
          </p:nvSpPr>
          <p:spPr>
            <a:xfrm>
              <a:off x="6546395" y="2007610"/>
              <a:ext cx="1390914" cy="60106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2720" b="1" dirty="0">
                  <a:latin typeface="Arial" panose="020B0604020202020204" pitchFamily="34" charset="0"/>
                  <a:cs typeface="Arial" panose="020B0604020202020204" pitchFamily="34" charset="0"/>
                </a:rPr>
                <a:t>D</a:t>
              </a:r>
            </a:p>
          </p:txBody>
        </p:sp>
      </p:grpSp>
      <p:pic>
        <p:nvPicPr>
          <p:cNvPr id="7" name="Picture 2" descr="Clownfish - Free vector clipart images on creazilla.com">
            <a:extLst>
              <a:ext uri="{FF2B5EF4-FFF2-40B4-BE49-F238E27FC236}">
                <a16:creationId xmlns:a16="http://schemas.microsoft.com/office/drawing/2014/main" id="{E97208DD-4E72-7C03-5D21-09411D0F01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48037" y="492231"/>
            <a:ext cx="1052062" cy="5497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Clownfish - Free vector clipart images on creazilla.com">
            <a:extLst>
              <a:ext uri="{FF2B5EF4-FFF2-40B4-BE49-F238E27FC236}">
                <a16:creationId xmlns:a16="http://schemas.microsoft.com/office/drawing/2014/main" id="{D4DFD822-AAD1-D9E0-EE06-F325CCD499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145500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8AA416F-393F-C503-BCF7-70A3D6EA3B44}"/>
              </a:ext>
            </a:extLst>
          </p:cNvPr>
          <p:cNvSpPr txBox="1"/>
          <p:nvPr/>
        </p:nvSpPr>
        <p:spPr>
          <a:xfrm>
            <a:off x="1397893" y="-73400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22F4DE-A203-732C-0047-B0A0485E622E}"/>
              </a:ext>
            </a:extLst>
          </p:cNvPr>
          <p:cNvSpPr txBox="1"/>
          <p:nvPr/>
        </p:nvSpPr>
        <p:spPr>
          <a:xfrm>
            <a:off x="430435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1" name="Right Arrow 12">
            <a:extLst>
              <a:ext uri="{FF2B5EF4-FFF2-40B4-BE49-F238E27FC236}">
                <a16:creationId xmlns:a16="http://schemas.microsoft.com/office/drawing/2014/main" id="{18370A45-3AB7-3AF4-AA75-27011B45F1C0}"/>
              </a:ext>
            </a:extLst>
          </p:cNvPr>
          <p:cNvSpPr/>
          <p:nvPr/>
        </p:nvSpPr>
        <p:spPr>
          <a:xfrm>
            <a:off x="2365352" y="492232"/>
            <a:ext cx="747487" cy="148757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12" name="Picture 2" descr="Clownfish - Free vector clipart images on creazilla.com">
            <a:extLst>
              <a:ext uri="{FF2B5EF4-FFF2-40B4-BE49-F238E27FC236}">
                <a16:creationId xmlns:a16="http://schemas.microsoft.com/office/drawing/2014/main" id="{DFFE053C-3F83-B086-4EEE-9CF59CD6E6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15375" y="424194"/>
            <a:ext cx="1182277" cy="6177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2" descr="Clownfish - Free vector clipart images on creazilla.com">
            <a:extLst>
              <a:ext uri="{FF2B5EF4-FFF2-40B4-BE49-F238E27FC236}">
                <a16:creationId xmlns:a16="http://schemas.microsoft.com/office/drawing/2014/main" id="{46CE3ECD-FA7E-FDAE-15F8-5C0CCD233E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112838" y="498140"/>
            <a:ext cx="967458" cy="5054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B639CE1-D3EC-6036-C213-9A28AC17A9EA}"/>
              </a:ext>
            </a:extLst>
          </p:cNvPr>
          <p:cNvSpPr txBox="1"/>
          <p:nvPr/>
        </p:nvSpPr>
        <p:spPr>
          <a:xfrm>
            <a:off x="4607721" y="31242"/>
            <a:ext cx="397588" cy="5109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72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3DB0C1-228B-2BA0-A729-18B7710EC19B}"/>
              </a:ext>
            </a:extLst>
          </p:cNvPr>
          <p:cNvSpPr txBox="1"/>
          <p:nvPr/>
        </p:nvSpPr>
        <p:spPr>
          <a:xfrm>
            <a:off x="3397773" y="-73399"/>
            <a:ext cx="397588" cy="72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80" dirty="0">
                <a:latin typeface="Google Sans"/>
              </a:rPr>
              <a:t>♂</a:t>
            </a:r>
            <a:endParaRPr lang="en-US" sz="408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CB58932-4206-FE16-42DC-01B1A773DFBC}"/>
              </a:ext>
            </a:extLst>
          </p:cNvPr>
          <p:cNvSpPr txBox="1"/>
          <p:nvPr/>
        </p:nvSpPr>
        <p:spPr>
          <a:xfrm>
            <a:off x="11783" y="-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C0B81D5-4362-55B6-7288-6D891B5B3EC4}"/>
              </a:ext>
            </a:extLst>
          </p:cNvPr>
          <p:cNvSpPr txBox="1"/>
          <p:nvPr/>
        </p:nvSpPr>
        <p:spPr>
          <a:xfrm>
            <a:off x="2365352" y="162050"/>
            <a:ext cx="747487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6 Months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A933B0-01B9-73F1-5C40-4823B3E4D380}"/>
              </a:ext>
            </a:extLst>
          </p:cNvPr>
          <p:cNvSpPr txBox="1"/>
          <p:nvPr/>
        </p:nvSpPr>
        <p:spPr>
          <a:xfrm>
            <a:off x="3112839" y="1144566"/>
            <a:ext cx="2284814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n = 10 pairs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36BC8C6B-2715-72F8-5A22-22A0ADC6F028}"/>
              </a:ext>
            </a:extLst>
          </p:cNvPr>
          <p:cNvGrpSpPr/>
          <p:nvPr/>
        </p:nvGrpSpPr>
        <p:grpSpPr>
          <a:xfrm>
            <a:off x="5657711" y="566611"/>
            <a:ext cx="990076" cy="475322"/>
            <a:chOff x="6685935" y="970403"/>
            <a:chExt cx="1164794" cy="879396"/>
          </a:xfrm>
        </p:grpSpPr>
        <p:sp>
          <p:nvSpPr>
            <p:cNvPr id="6" name="Right Arrow 12">
              <a:extLst>
                <a:ext uri="{FF2B5EF4-FFF2-40B4-BE49-F238E27FC236}">
                  <a16:creationId xmlns:a16="http://schemas.microsoft.com/office/drawing/2014/main" id="{04BE0BDF-CDCB-4DC5-9382-90C88CE210C9}"/>
                </a:ext>
              </a:extLst>
            </p:cNvPr>
            <p:cNvSpPr/>
            <p:nvPr/>
          </p:nvSpPr>
          <p:spPr>
            <a:xfrm rot="5400000">
              <a:off x="7323527" y="1322597"/>
              <a:ext cx="879396" cy="175008"/>
            </a:xfrm>
            <a:prstGeom prst="rightArrow">
              <a:avLst>
                <a:gd name="adj1" fmla="val 14423"/>
                <a:gd name="adj2" fmla="val 75529"/>
              </a:avLst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04F5843E-A4D3-18A9-C8E5-C9BA62DD27E2}"/>
                </a:ext>
              </a:extLst>
            </p:cNvPr>
            <p:cNvCxnSpPr>
              <a:cxnSpLocks/>
            </p:cNvCxnSpPr>
            <p:nvPr/>
          </p:nvCxnSpPr>
          <p:spPr>
            <a:xfrm>
              <a:off x="6685935" y="984557"/>
              <a:ext cx="1077290" cy="0"/>
            </a:xfrm>
            <a:prstGeom prst="line">
              <a:avLst/>
            </a:prstGeom>
            <a:ln w="47625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90" name="TextBox 89">
            <a:extLst>
              <a:ext uri="{FF2B5EF4-FFF2-40B4-BE49-F238E27FC236}">
                <a16:creationId xmlns:a16="http://schemas.microsoft.com/office/drawing/2014/main" id="{CB1356BA-383C-9916-0263-7973C7B19AD1}"/>
              </a:ext>
            </a:extLst>
          </p:cNvPr>
          <p:cNvSpPr txBox="1"/>
          <p:nvPr/>
        </p:nvSpPr>
        <p:spPr>
          <a:xfrm>
            <a:off x="5579340" y="1130375"/>
            <a:ext cx="1947752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Parental Care Assay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43D56D5-EC0C-CF0F-DACB-8D94F7F3E406}"/>
              </a:ext>
            </a:extLst>
          </p:cNvPr>
          <p:cNvSpPr txBox="1"/>
          <p:nvPr/>
        </p:nvSpPr>
        <p:spPr>
          <a:xfrm>
            <a:off x="137828" y="1144566"/>
            <a:ext cx="2162273" cy="2492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Pairing</a:t>
            </a:r>
          </a:p>
        </p:txBody>
      </p:sp>
      <p:sp>
        <p:nvSpPr>
          <p:cNvPr id="97" name="Right Arrow 12">
            <a:extLst>
              <a:ext uri="{FF2B5EF4-FFF2-40B4-BE49-F238E27FC236}">
                <a16:creationId xmlns:a16="http://schemas.microsoft.com/office/drawing/2014/main" id="{76219F1A-A9F6-BBF0-7CB0-799AFE70E479}"/>
              </a:ext>
            </a:extLst>
          </p:cNvPr>
          <p:cNvSpPr/>
          <p:nvPr/>
        </p:nvSpPr>
        <p:spPr>
          <a:xfrm rot="10800000">
            <a:off x="4870451" y="2288771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98" name="Picture 2" descr="Clownfish - Free vector clipart images on creazilla.com">
            <a:extLst>
              <a:ext uri="{FF2B5EF4-FFF2-40B4-BE49-F238E27FC236}">
                <a16:creationId xmlns:a16="http://schemas.microsoft.com/office/drawing/2014/main" id="{F0171017-2890-85D5-F87D-D5B5A01C930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54040" y="1993269"/>
            <a:ext cx="1232481" cy="6439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9" name="Picture 4" descr="Medicine syringe clipart free download">
            <a:extLst>
              <a:ext uri="{FF2B5EF4-FFF2-40B4-BE49-F238E27FC236}">
                <a16:creationId xmlns:a16="http://schemas.microsoft.com/office/drawing/2014/main" id="{131FFF00-1744-29AB-780D-74F62D4BCEF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565"/>
          <a:stretch/>
        </p:blipFill>
        <p:spPr bwMode="auto">
          <a:xfrm rot="14619277">
            <a:off x="3921943" y="1442801"/>
            <a:ext cx="1190322" cy="9273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0" name="Picture 43">
            <a:extLst>
              <a:ext uri="{FF2B5EF4-FFF2-40B4-BE49-F238E27FC236}">
                <a16:creationId xmlns:a16="http://schemas.microsoft.com/office/drawing/2014/main" id="{6BDC3B56-9D95-1B3C-E78E-0CE65A8EB1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953"/>
          <a:stretch>
            <a:fillRect/>
          </a:stretch>
        </p:blipFill>
        <p:spPr bwMode="auto">
          <a:xfrm>
            <a:off x="2012332" y="2043406"/>
            <a:ext cx="845677" cy="6364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3810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03" name="TextBox 102">
            <a:extLst>
              <a:ext uri="{FF2B5EF4-FFF2-40B4-BE49-F238E27FC236}">
                <a16:creationId xmlns:a16="http://schemas.microsoft.com/office/drawing/2014/main" id="{3A3AA921-0244-A72E-0E9A-31B41DF1E34F}"/>
              </a:ext>
            </a:extLst>
          </p:cNvPr>
          <p:cNvSpPr txBox="1"/>
          <p:nvPr/>
        </p:nvSpPr>
        <p:spPr>
          <a:xfrm>
            <a:off x="3554040" y="2772673"/>
            <a:ext cx="1359270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Serum 11KT Analysis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E0F76C5C-7347-7086-AD3E-9C3C28200D87}"/>
              </a:ext>
            </a:extLst>
          </p:cNvPr>
          <p:cNvSpPr txBox="1"/>
          <p:nvPr/>
        </p:nvSpPr>
        <p:spPr>
          <a:xfrm>
            <a:off x="2042756" y="2820560"/>
            <a:ext cx="812288" cy="4062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20" dirty="0">
                <a:latin typeface="Arial" panose="020B0604020202020204" pitchFamily="34" charset="0"/>
                <a:cs typeface="Arial" panose="020B0604020202020204" pitchFamily="34" charset="0"/>
              </a:rPr>
              <a:t>Gonadal Histology</a:t>
            </a:r>
          </a:p>
        </p:txBody>
      </p: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FBE60B95-9393-FAB1-25A3-1EBFA5F36EF3}"/>
              </a:ext>
            </a:extLst>
          </p:cNvPr>
          <p:cNvGrpSpPr/>
          <p:nvPr/>
        </p:nvGrpSpPr>
        <p:grpSpPr>
          <a:xfrm>
            <a:off x="143455" y="1993270"/>
            <a:ext cx="1230305" cy="1221106"/>
            <a:chOff x="1231515" y="2326063"/>
            <a:chExt cx="1447417" cy="1436594"/>
          </a:xfrm>
        </p:grpSpPr>
        <p:pic>
          <p:nvPicPr>
            <p:cNvPr id="101" name="Picture 100">
              <a:extLst>
                <a:ext uri="{FF2B5EF4-FFF2-40B4-BE49-F238E27FC236}">
                  <a16:creationId xmlns:a16="http://schemas.microsoft.com/office/drawing/2014/main" id="{BA0BC22C-AE4A-B719-3503-056DC23A75E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1251617" y="2326063"/>
              <a:ext cx="1427315" cy="822613"/>
            </a:xfrm>
            <a:prstGeom prst="rect">
              <a:avLst/>
            </a:prstGeom>
          </p:spPr>
        </p:pic>
        <p:sp>
          <p:nvSpPr>
            <p:cNvPr id="102" name="Rectangle 101">
              <a:extLst>
                <a:ext uri="{FF2B5EF4-FFF2-40B4-BE49-F238E27FC236}">
                  <a16:creationId xmlns:a16="http://schemas.microsoft.com/office/drawing/2014/main" id="{AD759AB2-75DA-ED1F-FBB7-3BC8B09B0287}"/>
                </a:ext>
              </a:extLst>
            </p:cNvPr>
            <p:cNvSpPr/>
            <p:nvPr/>
          </p:nvSpPr>
          <p:spPr>
            <a:xfrm>
              <a:off x="2162333" y="2713955"/>
              <a:ext cx="322368" cy="271363"/>
            </a:xfrm>
            <a:prstGeom prst="rect">
              <a:avLst/>
            </a:prstGeom>
            <a:noFill/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530"/>
            </a:p>
          </p:txBody>
        </p:sp>
        <p:sp>
          <p:nvSpPr>
            <p:cNvPr id="105" name="TextBox 104">
              <a:extLst>
                <a:ext uri="{FF2B5EF4-FFF2-40B4-BE49-F238E27FC236}">
                  <a16:creationId xmlns:a16="http://schemas.microsoft.com/office/drawing/2014/main" id="{ACE896B2-9DC7-8B67-2025-B64B812DE446}"/>
                </a:ext>
              </a:extLst>
            </p:cNvPr>
            <p:cNvSpPr txBox="1"/>
            <p:nvPr/>
          </p:nvSpPr>
          <p:spPr>
            <a:xfrm>
              <a:off x="1231515" y="3284699"/>
              <a:ext cx="1429328" cy="47795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20" dirty="0">
                  <a:latin typeface="Arial" panose="020B0604020202020204" pitchFamily="34" charset="0"/>
                  <a:cs typeface="Arial" panose="020B0604020202020204" pitchFamily="34" charset="0"/>
                </a:rPr>
                <a:t>Dissect out POA for </a:t>
              </a:r>
              <a:r>
                <a:rPr lang="en-US" sz="1020" dirty="0" err="1">
                  <a:latin typeface="Arial" panose="020B0604020202020204" pitchFamily="34" charset="0"/>
                  <a:cs typeface="Arial" panose="020B0604020202020204" pitchFamily="34" charset="0"/>
                </a:rPr>
                <a:t>snMultiome</a:t>
              </a:r>
              <a:endParaRPr lang="en-US" sz="102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sp>
        <p:nvSpPr>
          <p:cNvPr id="107" name="Right Arrow 12">
            <a:extLst>
              <a:ext uri="{FF2B5EF4-FFF2-40B4-BE49-F238E27FC236}">
                <a16:creationId xmlns:a16="http://schemas.microsoft.com/office/drawing/2014/main" id="{0EBD257A-2450-AB6A-E89C-90D54E3B6630}"/>
              </a:ext>
            </a:extLst>
          </p:cNvPr>
          <p:cNvSpPr/>
          <p:nvPr/>
        </p:nvSpPr>
        <p:spPr>
          <a:xfrm rot="10800000">
            <a:off x="292677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8" name="Right Arrow 12">
            <a:extLst>
              <a:ext uri="{FF2B5EF4-FFF2-40B4-BE49-F238E27FC236}">
                <a16:creationId xmlns:a16="http://schemas.microsoft.com/office/drawing/2014/main" id="{F2F8BB72-38E5-32E5-751A-8BAE5035EC64}"/>
              </a:ext>
            </a:extLst>
          </p:cNvPr>
          <p:cNvSpPr/>
          <p:nvPr/>
        </p:nvSpPr>
        <p:spPr>
          <a:xfrm rot="10800000">
            <a:off x="1410603" y="2286720"/>
            <a:ext cx="529059" cy="151586"/>
          </a:xfrm>
          <a:prstGeom prst="rightArrow">
            <a:avLst>
              <a:gd name="adj1" fmla="val 14423"/>
              <a:gd name="adj2" fmla="val 75529"/>
            </a:avLst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D5C86766-CF8A-AED6-AF5C-97A8932EC868}"/>
              </a:ext>
            </a:extLst>
          </p:cNvPr>
          <p:cNvSpPr/>
          <p:nvPr/>
        </p:nvSpPr>
        <p:spPr>
          <a:xfrm>
            <a:off x="1939663" y="2031993"/>
            <a:ext cx="158726" cy="15158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30"/>
          </a:p>
        </p:txBody>
      </p:sp>
      <p:pic>
        <p:nvPicPr>
          <p:cNvPr id="4" name="Google Shape;143;p21" descr="A picture containing purple, plant, close&#10;&#10;Description automatically generated">
            <a:extLst>
              <a:ext uri="{FF2B5EF4-FFF2-40B4-BE49-F238E27FC236}">
                <a16:creationId xmlns:a16="http://schemas.microsoft.com/office/drawing/2014/main" id="{71D81EB8-96AD-3D9A-459E-BF3E87DE34B5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8">
            <a:alphaModFix/>
          </a:blip>
          <a:srcRect l="-791" r="109"/>
          <a:stretch/>
        </p:blipFill>
        <p:spPr>
          <a:xfrm>
            <a:off x="285862" y="5821288"/>
            <a:ext cx="2268190" cy="1686122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Picture 46" descr="A picture containing purple&#10;&#10;Description automatically generated">
            <a:extLst>
              <a:ext uri="{FF2B5EF4-FFF2-40B4-BE49-F238E27FC236}">
                <a16:creationId xmlns:a16="http://schemas.microsoft.com/office/drawing/2014/main" id="{35358DF5-A718-7A5A-B7FD-EA416A38DD9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2883" r="772"/>
          <a:stretch/>
        </p:blipFill>
        <p:spPr bwMode="auto">
          <a:xfrm>
            <a:off x="2734072" y="5863213"/>
            <a:ext cx="2265312" cy="16862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5C16D79C-A33C-2223-4B75-1BE3A78E5E14}"/>
              </a:ext>
            </a:extLst>
          </p:cNvPr>
          <p:cNvSpPr txBox="1"/>
          <p:nvPr/>
        </p:nvSpPr>
        <p:spPr>
          <a:xfrm>
            <a:off x="69776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D69ED0A-F9DB-AF8B-48FF-C4AA7A3A7683}"/>
              </a:ext>
            </a:extLst>
          </p:cNvPr>
          <p:cNvSpPr txBox="1"/>
          <p:nvPr/>
        </p:nvSpPr>
        <p:spPr>
          <a:xfrm>
            <a:off x="2626060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0" name="Picture 109" descr="A close-up of a purple cell&#10;&#10;AI-generated content may be incorrect.">
            <a:extLst>
              <a:ext uri="{FF2B5EF4-FFF2-40B4-BE49-F238E27FC236}">
                <a16:creationId xmlns:a16="http://schemas.microsoft.com/office/drawing/2014/main" id="{3A849B34-6ABE-ECFC-1D48-9CBA0985AFA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 flipH="1">
            <a:off x="5238165" y="5929300"/>
            <a:ext cx="2248435" cy="1682496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7F904629-9ADF-7B14-2643-E36C64B53B71}"/>
              </a:ext>
            </a:extLst>
          </p:cNvPr>
          <p:cNvSpPr txBox="1"/>
          <p:nvPr/>
        </p:nvSpPr>
        <p:spPr>
          <a:xfrm>
            <a:off x="5039044" y="560526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FB62D91F-D356-BB0A-DF26-89747353102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68052" y="3409020"/>
            <a:ext cx="2286000" cy="2286000"/>
          </a:xfrm>
          <a:prstGeom prst="rect">
            <a:avLst/>
          </a:prstGeom>
        </p:spPr>
      </p:pic>
      <p:pic>
        <p:nvPicPr>
          <p:cNvPr id="85" name="Graphic 84">
            <a:extLst>
              <a:ext uri="{FF2B5EF4-FFF2-40B4-BE49-F238E27FC236}">
                <a16:creationId xmlns:a16="http://schemas.microsoft.com/office/drawing/2014/main" id="{55AD800F-D69A-53A5-C86D-430AD6011840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753044" y="3409020"/>
            <a:ext cx="2286000" cy="2286000"/>
          </a:xfrm>
          <a:prstGeom prst="rect">
            <a:avLst/>
          </a:prstGeom>
        </p:spPr>
      </p:pic>
      <p:sp>
        <p:nvSpPr>
          <p:cNvPr id="117" name="TextBox 116">
            <a:extLst>
              <a:ext uri="{FF2B5EF4-FFF2-40B4-BE49-F238E27FC236}">
                <a16:creationId xmlns:a16="http://schemas.microsoft.com/office/drawing/2014/main" id="{0D2C0D7C-C96F-F947-4FDA-55B14E666C10}"/>
              </a:ext>
            </a:extLst>
          </p:cNvPr>
          <p:cNvSpPr txBox="1"/>
          <p:nvPr/>
        </p:nvSpPr>
        <p:spPr>
          <a:xfrm>
            <a:off x="262606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D2CAD60C-8B2A-7E90-C39B-12960FBEF7E4}"/>
              </a:ext>
            </a:extLst>
          </p:cNvPr>
          <p:cNvSpPr txBox="1"/>
          <p:nvPr/>
        </p:nvSpPr>
        <p:spPr>
          <a:xfrm>
            <a:off x="3371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88" name="Graphic 87">
            <a:extLst>
              <a:ext uri="{FF2B5EF4-FFF2-40B4-BE49-F238E27FC236}">
                <a16:creationId xmlns:a16="http://schemas.microsoft.com/office/drawing/2014/main" id="{416B76A9-9CFE-FF71-70FA-E7485F049B3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5200600" y="3456384"/>
            <a:ext cx="2286000" cy="2286000"/>
          </a:xfrm>
          <a:prstGeom prst="rect">
            <a:avLst/>
          </a:prstGeom>
        </p:spPr>
      </p:pic>
      <p:sp>
        <p:nvSpPr>
          <p:cNvPr id="118" name="TextBox 117">
            <a:extLst>
              <a:ext uri="{FF2B5EF4-FFF2-40B4-BE49-F238E27FC236}">
                <a16:creationId xmlns:a16="http://schemas.microsoft.com/office/drawing/2014/main" id="{13B4A719-BCB2-3CF7-A9B0-5AD69D0C8A3E}"/>
              </a:ext>
            </a:extLst>
          </p:cNvPr>
          <p:cNvSpPr txBox="1"/>
          <p:nvPr/>
        </p:nvSpPr>
        <p:spPr>
          <a:xfrm>
            <a:off x="5074270" y="3192996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3" name="Graphic 112">
            <a:extLst>
              <a:ext uri="{FF2B5EF4-FFF2-40B4-BE49-F238E27FC236}">
                <a16:creationId xmlns:a16="http://schemas.microsoft.com/office/drawing/2014/main" id="{E43809F0-BF26-2459-8448-F0BFAB2AEAA0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285800" y="7765504"/>
            <a:ext cx="2286000" cy="2286000"/>
          </a:xfrm>
          <a:prstGeom prst="rect">
            <a:avLst/>
          </a:prstGeom>
        </p:spPr>
      </p:pic>
      <p:sp>
        <p:nvSpPr>
          <p:cNvPr id="123" name="TextBox 122">
            <a:extLst>
              <a:ext uri="{FF2B5EF4-FFF2-40B4-BE49-F238E27FC236}">
                <a16:creationId xmlns:a16="http://schemas.microsoft.com/office/drawing/2014/main" id="{3C57F850-1547-8BF7-CB20-ECCB06018039}"/>
              </a:ext>
            </a:extLst>
          </p:cNvPr>
          <p:cNvSpPr txBox="1"/>
          <p:nvPr/>
        </p:nvSpPr>
        <p:spPr>
          <a:xfrm>
            <a:off x="3377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15" name="Graphic 114">
            <a:extLst>
              <a:ext uri="{FF2B5EF4-FFF2-40B4-BE49-F238E27FC236}">
                <a16:creationId xmlns:a16="http://schemas.microsoft.com/office/drawing/2014/main" id="{BF9F4792-245F-EEB0-D79E-BECA49AB4D62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2713384" y="7752065"/>
            <a:ext cx="2286000" cy="2286000"/>
          </a:xfrm>
          <a:prstGeom prst="rect">
            <a:avLst/>
          </a:prstGeom>
        </p:spPr>
      </p:pic>
      <p:sp>
        <p:nvSpPr>
          <p:cNvPr id="124" name="TextBox 123">
            <a:extLst>
              <a:ext uri="{FF2B5EF4-FFF2-40B4-BE49-F238E27FC236}">
                <a16:creationId xmlns:a16="http://schemas.microsoft.com/office/drawing/2014/main" id="{D8CF9B51-CE97-1D8C-3EC3-4AA7BD779FF0}"/>
              </a:ext>
            </a:extLst>
          </p:cNvPr>
          <p:cNvSpPr txBox="1"/>
          <p:nvPr/>
        </p:nvSpPr>
        <p:spPr>
          <a:xfrm>
            <a:off x="262612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i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2" name="Graphic 121">
            <a:extLst>
              <a:ext uri="{FF2B5EF4-FFF2-40B4-BE49-F238E27FC236}">
                <a16:creationId xmlns:a16="http://schemas.microsoft.com/office/drawing/2014/main" id="{6A8B530B-11C6-0242-55BA-B69A040A1613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5200600" y="7747756"/>
            <a:ext cx="2286000" cy="2286000"/>
          </a:xfrm>
          <a:prstGeom prst="rect">
            <a:avLst/>
          </a:prstGeom>
        </p:spPr>
      </p:pic>
      <p:sp>
        <p:nvSpPr>
          <p:cNvPr id="126" name="TextBox 125">
            <a:extLst>
              <a:ext uri="{FF2B5EF4-FFF2-40B4-BE49-F238E27FC236}">
                <a16:creationId xmlns:a16="http://schemas.microsoft.com/office/drawing/2014/main" id="{E40823CD-5DD9-A955-771A-55CA7C7CCFD6}"/>
              </a:ext>
            </a:extLst>
          </p:cNvPr>
          <p:cNvSpPr txBox="1"/>
          <p:nvPr/>
        </p:nvSpPr>
        <p:spPr>
          <a:xfrm>
            <a:off x="5074332" y="7503127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j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94397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Graphic 67">
            <a:extLst>
              <a:ext uri="{FF2B5EF4-FFF2-40B4-BE49-F238E27FC236}">
                <a16:creationId xmlns:a16="http://schemas.microsoft.com/office/drawing/2014/main" id="{AFAC6DF5-5A48-4CFF-4E43-615A62ED0D4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l="1548"/>
          <a:stretch/>
        </p:blipFill>
        <p:spPr>
          <a:xfrm>
            <a:off x="21454" y="8637992"/>
            <a:ext cx="3837313" cy="1417320"/>
          </a:xfrm>
          <a:prstGeom prst="rect">
            <a:avLst/>
          </a:prstGeom>
        </p:spPr>
      </p:pic>
      <p:pic>
        <p:nvPicPr>
          <p:cNvPr id="65" name="Graphic 64">
            <a:extLst>
              <a:ext uri="{FF2B5EF4-FFF2-40B4-BE49-F238E27FC236}">
                <a16:creationId xmlns:a16="http://schemas.microsoft.com/office/drawing/2014/main" id="{7090208C-3CBB-6929-56E0-3BF36A80FB0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3886200" y="8640925"/>
            <a:ext cx="3886200" cy="141316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BB592F1-0AA8-BDE4-3DC1-1FBE0582101A}"/>
              </a:ext>
            </a:extLst>
          </p:cNvPr>
          <p:cNvSpPr txBox="1"/>
          <p:nvPr/>
        </p:nvSpPr>
        <p:spPr>
          <a:xfrm>
            <a:off x="262606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b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812B3F5-B974-1B75-0C47-2FF5A85F3D1D}"/>
              </a:ext>
            </a:extLst>
          </p:cNvPr>
          <p:cNvSpPr txBox="1"/>
          <p:nvPr/>
        </p:nvSpPr>
        <p:spPr>
          <a:xfrm>
            <a:off x="33772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a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DD74444-1A27-28FC-905F-1F0576508501}"/>
              </a:ext>
            </a:extLst>
          </p:cNvPr>
          <p:cNvSpPr txBox="1"/>
          <p:nvPr/>
        </p:nvSpPr>
        <p:spPr>
          <a:xfrm>
            <a:off x="5074270" y="2464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c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6" name="Picture 5" descr="A diagram of a map&#10;&#10;AI-generated content may be incorrect.">
            <a:extLst>
              <a:ext uri="{FF2B5EF4-FFF2-40B4-BE49-F238E27FC236}">
                <a16:creationId xmlns:a16="http://schemas.microsoft.com/office/drawing/2014/main" id="{DC1D96E0-F962-E0EF-6C90-F987969E855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114" y="204664"/>
            <a:ext cx="2286000" cy="2286000"/>
          </a:xfrm>
          <a:prstGeom prst="rect">
            <a:avLst/>
          </a:prstGeom>
        </p:spPr>
      </p:pic>
      <p:pic>
        <p:nvPicPr>
          <p:cNvPr id="8" name="Picture 7" descr="A diagram with numbers and dots&#10;&#10;AI-generated content may be incorrect.">
            <a:extLst>
              <a:ext uri="{FF2B5EF4-FFF2-40B4-BE49-F238E27FC236}">
                <a16:creationId xmlns:a16="http://schemas.microsoft.com/office/drawing/2014/main" id="{A8A9F539-7A64-C7A0-F692-CD3545B77812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3210" y="204664"/>
            <a:ext cx="2286000" cy="2286000"/>
          </a:xfrm>
          <a:prstGeom prst="rect">
            <a:avLst/>
          </a:prstGeom>
        </p:spPr>
      </p:pic>
      <p:pic>
        <p:nvPicPr>
          <p:cNvPr id="10" name="Picture 9" descr="A map with numbers and letters&#10;&#10;AI-generated content may be incorrect.">
            <a:extLst>
              <a:ext uri="{FF2B5EF4-FFF2-40B4-BE49-F238E27FC236}">
                <a16:creationId xmlns:a16="http://schemas.microsoft.com/office/drawing/2014/main" id="{0A42E66F-C3D9-3687-3796-19B743B7624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8612" y="204664"/>
            <a:ext cx="2286000" cy="2286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A49F8E-FAE3-DBE1-F601-87D595B75729}"/>
              </a:ext>
            </a:extLst>
          </p:cNvPr>
          <p:cNvSpPr txBox="1"/>
          <p:nvPr/>
        </p:nvSpPr>
        <p:spPr>
          <a:xfrm>
            <a:off x="33772" y="2246543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d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B26A85CC-765F-E34F-CBE7-DE70B728058C}"/>
              </a:ext>
            </a:extLst>
          </p:cNvPr>
          <p:cNvGrpSpPr/>
          <p:nvPr/>
        </p:nvGrpSpPr>
        <p:grpSpPr>
          <a:xfrm>
            <a:off x="387880" y="2352392"/>
            <a:ext cx="7413107" cy="4572000"/>
            <a:chOff x="387880" y="2490664"/>
            <a:chExt cx="7413107" cy="45720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D869B481-AEC4-0CF1-1D0C-555B51D80607}"/>
                </a:ext>
              </a:extLst>
            </p:cNvPr>
            <p:cNvSpPr/>
            <p:nvPr/>
          </p:nvSpPr>
          <p:spPr>
            <a:xfrm>
              <a:off x="1467097" y="5212534"/>
              <a:ext cx="1466999" cy="10530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CB7881D7-0A18-201D-06D1-BC616D30F828}"/>
                </a:ext>
              </a:extLst>
            </p:cNvPr>
            <p:cNvSpPr/>
            <p:nvPr/>
          </p:nvSpPr>
          <p:spPr>
            <a:xfrm>
              <a:off x="1468131" y="5318744"/>
              <a:ext cx="1460557" cy="164869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F71E9030-6303-3EDF-B3CF-8490DA946F17}"/>
                </a:ext>
              </a:extLst>
            </p:cNvPr>
            <p:cNvSpPr/>
            <p:nvPr/>
          </p:nvSpPr>
          <p:spPr>
            <a:xfrm>
              <a:off x="1469696" y="5483613"/>
              <a:ext cx="1458056" cy="88785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ABCADBDB-B425-2914-E1B7-27BE3C5930BB}"/>
                </a:ext>
              </a:extLst>
            </p:cNvPr>
            <p:cNvSpPr/>
            <p:nvPr/>
          </p:nvSpPr>
          <p:spPr>
            <a:xfrm>
              <a:off x="1467098" y="5570400"/>
              <a:ext cx="1461220" cy="8878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F6058900-7F4F-217C-ECE0-90C562F4E743}"/>
                </a:ext>
              </a:extLst>
            </p:cNvPr>
            <p:cNvSpPr/>
            <p:nvPr/>
          </p:nvSpPr>
          <p:spPr>
            <a:xfrm>
              <a:off x="1465653" y="5658506"/>
              <a:ext cx="1461220" cy="88785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F661D54E-581E-61D0-D36C-14CCCF1318A8}"/>
                </a:ext>
              </a:extLst>
            </p:cNvPr>
            <p:cNvSpPr/>
            <p:nvPr/>
          </p:nvSpPr>
          <p:spPr>
            <a:xfrm>
              <a:off x="1464208" y="5744999"/>
              <a:ext cx="1462665" cy="170275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520A0A0D-E578-6D9A-7ED5-4ADD7BB512BE}"/>
                </a:ext>
              </a:extLst>
            </p:cNvPr>
            <p:cNvSpPr/>
            <p:nvPr/>
          </p:nvSpPr>
          <p:spPr>
            <a:xfrm>
              <a:off x="1463496" y="5913383"/>
              <a:ext cx="1462665" cy="9688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A4331E8D-1B65-CFE5-F5B9-01F19039743F}"/>
                </a:ext>
              </a:extLst>
            </p:cNvPr>
            <p:cNvSpPr/>
            <p:nvPr/>
          </p:nvSpPr>
          <p:spPr>
            <a:xfrm>
              <a:off x="1463496" y="6008090"/>
              <a:ext cx="1463377" cy="272845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580B8951-6BF5-E05E-65F0-EE3C1980F5BC}"/>
                </a:ext>
              </a:extLst>
            </p:cNvPr>
            <p:cNvSpPr/>
            <p:nvPr/>
          </p:nvSpPr>
          <p:spPr>
            <a:xfrm>
              <a:off x="1463496" y="6280936"/>
              <a:ext cx="1463377" cy="160990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029A1DE-DE3F-286D-4393-3D6B0D2FF8DE}"/>
                </a:ext>
              </a:extLst>
            </p:cNvPr>
            <p:cNvSpPr/>
            <p:nvPr/>
          </p:nvSpPr>
          <p:spPr>
            <a:xfrm>
              <a:off x="1463496" y="6441926"/>
              <a:ext cx="1464027" cy="94687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CE52E9F1-061D-1727-410D-6FF697CF3E7C}"/>
                </a:ext>
              </a:extLst>
            </p:cNvPr>
            <p:cNvSpPr/>
            <p:nvPr/>
          </p:nvSpPr>
          <p:spPr>
            <a:xfrm>
              <a:off x="1467097" y="4956623"/>
              <a:ext cx="1466258" cy="255911"/>
            </a:xfrm>
            <a:prstGeom prst="rect">
              <a:avLst/>
            </a:prstGeom>
            <a:solidFill>
              <a:schemeClr val="tx1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A296C0D-2151-E724-C921-4F356E8CA10A}"/>
                </a:ext>
              </a:extLst>
            </p:cNvPr>
            <p:cNvSpPr/>
            <p:nvPr/>
          </p:nvSpPr>
          <p:spPr>
            <a:xfrm>
              <a:off x="1467097" y="4515632"/>
              <a:ext cx="1464094" cy="444586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C3515DE2-BA0D-E425-FFB3-2C0B28F1074D}"/>
                </a:ext>
              </a:extLst>
            </p:cNvPr>
            <p:cNvSpPr/>
            <p:nvPr/>
          </p:nvSpPr>
          <p:spPr>
            <a:xfrm>
              <a:off x="1467097" y="4159138"/>
              <a:ext cx="1461929" cy="358811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C881F698-2224-CC6D-DB04-E00009644EF9}"/>
                </a:ext>
              </a:extLst>
            </p:cNvPr>
            <p:cNvSpPr/>
            <p:nvPr/>
          </p:nvSpPr>
          <p:spPr>
            <a:xfrm>
              <a:off x="1469695" y="3814120"/>
              <a:ext cx="1459333" cy="346384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03038D94-1C3C-9978-6C13-787DB3BD9FBE}"/>
                </a:ext>
              </a:extLst>
            </p:cNvPr>
            <p:cNvSpPr/>
            <p:nvPr/>
          </p:nvSpPr>
          <p:spPr>
            <a:xfrm>
              <a:off x="1469695" y="3380085"/>
              <a:ext cx="1459331" cy="434200"/>
            </a:xfrm>
            <a:prstGeom prst="rect">
              <a:avLst/>
            </a:prstGeom>
            <a:solidFill>
              <a:schemeClr val="tx2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8E512A2F-C776-E3CA-9F45-E1C87BAC9AF2}"/>
                </a:ext>
              </a:extLst>
            </p:cNvPr>
            <p:cNvSpPr/>
            <p:nvPr/>
          </p:nvSpPr>
          <p:spPr>
            <a:xfrm>
              <a:off x="1469695" y="3191441"/>
              <a:ext cx="1454135" cy="191812"/>
            </a:xfrm>
            <a:prstGeom prst="rect">
              <a:avLst/>
            </a:prstGeom>
            <a:solidFill>
              <a:srgbClr val="FFC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highlight>
                  <a:srgbClr val="FFFF00"/>
                </a:highlight>
              </a:endParaRPr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2C8E95A-E24B-713D-DE03-B64F94E73285}"/>
                </a:ext>
              </a:extLst>
            </p:cNvPr>
            <p:cNvSpPr/>
            <p:nvPr/>
          </p:nvSpPr>
          <p:spPr>
            <a:xfrm>
              <a:off x="1468131" y="2939126"/>
              <a:ext cx="1459332" cy="251970"/>
            </a:xfrm>
            <a:prstGeom prst="rect">
              <a:avLst/>
            </a:prstGeom>
            <a:solidFill>
              <a:schemeClr val="accent6">
                <a:alpha val="2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8F360C19-C065-543D-28DF-4B90206242C2}"/>
                </a:ext>
              </a:extLst>
            </p:cNvPr>
            <p:cNvSpPr/>
            <p:nvPr/>
          </p:nvSpPr>
          <p:spPr>
            <a:xfrm>
              <a:off x="1467097" y="2591050"/>
              <a:ext cx="1459332" cy="349349"/>
            </a:xfrm>
            <a:prstGeom prst="rect">
              <a:avLst/>
            </a:prstGeom>
            <a:solidFill>
              <a:srgbClr val="FF0000">
                <a:alpha val="2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15" name="Graphic 14">
              <a:extLst>
                <a:ext uri="{FF2B5EF4-FFF2-40B4-BE49-F238E27FC236}">
                  <a16:creationId xmlns:a16="http://schemas.microsoft.com/office/drawing/2014/main" id="{AA47D037-5D25-3CF2-BE35-7E1C288086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2314587" y="2490664"/>
              <a:ext cx="5486400" cy="4572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2ECDD0F-33E5-AE3E-5912-4FA4BDF14760}"/>
                </a:ext>
              </a:extLst>
            </p:cNvPr>
            <p:cNvSpPr txBox="1"/>
            <p:nvPr/>
          </p:nvSpPr>
          <p:spPr>
            <a:xfrm>
              <a:off x="1536246" y="6252768"/>
              <a:ext cx="90010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GABA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E265FDAF-4560-6C99-BA1B-C31389BA111E}"/>
                </a:ext>
              </a:extLst>
            </p:cNvPr>
            <p:cNvSpPr txBox="1"/>
            <p:nvPr/>
          </p:nvSpPr>
          <p:spPr>
            <a:xfrm>
              <a:off x="1536245" y="603681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Glutamate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6B2CD20D-CCD9-06F4-F095-3D3BF16B874E}"/>
                </a:ext>
              </a:extLst>
            </p:cNvPr>
            <p:cNvSpPr txBox="1"/>
            <p:nvPr/>
          </p:nvSpPr>
          <p:spPr>
            <a:xfrm>
              <a:off x="1428233" y="5857183"/>
              <a:ext cx="100811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 Interneuron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6597FC38-6079-6278-F5EC-C1F808979E23}"/>
                </a:ext>
              </a:extLst>
            </p:cNvPr>
            <p:cNvSpPr txBox="1"/>
            <p:nvPr/>
          </p:nvSpPr>
          <p:spPr>
            <a:xfrm>
              <a:off x="397405" y="6120764"/>
              <a:ext cx="10559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Neuronal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2D5B1156-2E11-9BF7-5563-FEC76118D50E}"/>
                </a:ext>
              </a:extLst>
            </p:cNvPr>
            <p:cNvSpPr txBox="1"/>
            <p:nvPr/>
          </p:nvSpPr>
          <p:spPr>
            <a:xfrm>
              <a:off x="397405" y="5506660"/>
              <a:ext cx="106588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Glia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D9E8A2B-9E30-AFD2-79B0-2C7B52FFF19F}"/>
                </a:ext>
              </a:extLst>
            </p:cNvPr>
            <p:cNvSpPr txBox="1"/>
            <p:nvPr/>
          </p:nvSpPr>
          <p:spPr>
            <a:xfrm>
              <a:off x="1428234" y="5726116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Radial Glia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DEE5E9F0-A722-09B9-5EE8-D180D204A800}"/>
                </a:ext>
              </a:extLst>
            </p:cNvPr>
            <p:cNvSpPr txBox="1"/>
            <p:nvPr/>
          </p:nvSpPr>
          <p:spPr>
            <a:xfrm>
              <a:off x="1428224" y="5601148"/>
              <a:ext cx="100811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Ependymal Glia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F5D97EA8-7006-7B7D-46E1-D25BFBF60250}"/>
                </a:ext>
              </a:extLst>
            </p:cNvPr>
            <p:cNvSpPr txBox="1"/>
            <p:nvPr/>
          </p:nvSpPr>
          <p:spPr>
            <a:xfrm>
              <a:off x="1320222" y="5506660"/>
              <a:ext cx="111612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Oligodendrocyte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58F655CF-3967-B921-408C-A25AD9595C06}"/>
                </a:ext>
              </a:extLst>
            </p:cNvPr>
            <p:cNvSpPr txBox="1"/>
            <p:nvPr/>
          </p:nvSpPr>
          <p:spPr>
            <a:xfrm>
              <a:off x="1536245" y="5424676"/>
              <a:ext cx="90010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OPC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E72F16CB-10DF-ADD3-E5D2-BBC2B85ED5B8}"/>
                </a:ext>
              </a:extLst>
            </p:cNvPr>
            <p:cNvSpPr txBox="1"/>
            <p:nvPr/>
          </p:nvSpPr>
          <p:spPr>
            <a:xfrm>
              <a:off x="1520407" y="5281240"/>
              <a:ext cx="915939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Immune</a:t>
              </a:r>
            </a:p>
          </p:txBody>
        </p:sp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D710B335-341B-5D0D-7B0A-F8CD3F9A803C}"/>
                </a:ext>
              </a:extLst>
            </p:cNvPr>
            <p:cNvSpPr txBox="1"/>
            <p:nvPr/>
          </p:nvSpPr>
          <p:spPr>
            <a:xfrm>
              <a:off x="1516091" y="5146168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Acetylcholine</a:t>
              </a:r>
            </a:p>
          </p:txBody>
        </p: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7C1F2FC-06C7-51A7-87B2-59434EDE0336}"/>
                </a:ext>
              </a:extLst>
            </p:cNvPr>
            <p:cNvSpPr txBox="1"/>
            <p:nvPr/>
          </p:nvSpPr>
          <p:spPr>
            <a:xfrm>
              <a:off x="1533064" y="4915349"/>
              <a:ext cx="903282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Kisspeptin System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2763BA1C-4426-7B4B-1A04-85B1C496ABEB}"/>
                </a:ext>
              </a:extLst>
            </p:cNvPr>
            <p:cNvSpPr txBox="1"/>
            <p:nvPr/>
          </p:nvSpPr>
          <p:spPr>
            <a:xfrm>
              <a:off x="1469695" y="4568009"/>
              <a:ext cx="96665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Tachykinin System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867DE8C0-5CDB-D7B9-D180-B18E4DAD1A7C}"/>
                </a:ext>
              </a:extLst>
            </p:cNvPr>
            <p:cNvSpPr txBox="1"/>
            <p:nvPr/>
          </p:nvSpPr>
          <p:spPr>
            <a:xfrm>
              <a:off x="1509142" y="4167274"/>
              <a:ext cx="92720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 Y System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5428FD98-9880-8E5B-A3CC-0C3309E75A9E}"/>
                </a:ext>
              </a:extLst>
            </p:cNvPr>
            <p:cNvSpPr txBox="1"/>
            <p:nvPr/>
          </p:nvSpPr>
          <p:spPr>
            <a:xfrm>
              <a:off x="1491051" y="3428655"/>
              <a:ext cx="94529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Cholecystokinin System</a:t>
              </a:r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5EA97ACE-6E51-50D4-7803-0B7E55EFCD09}"/>
                </a:ext>
              </a:extLst>
            </p:cNvPr>
            <p:cNvSpPr txBox="1"/>
            <p:nvPr/>
          </p:nvSpPr>
          <p:spPr>
            <a:xfrm>
              <a:off x="1132426" y="3193219"/>
              <a:ext cx="13039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Galanin System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8E083D05-78C3-B0E6-E976-A3F8DE8E37FD}"/>
                </a:ext>
              </a:extLst>
            </p:cNvPr>
            <p:cNvSpPr txBox="1"/>
            <p:nvPr/>
          </p:nvSpPr>
          <p:spPr>
            <a:xfrm>
              <a:off x="1493214" y="2903169"/>
              <a:ext cx="94313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Nonapeptide System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7CDC7041-824D-CCE0-16C9-CE56A64888E3}"/>
                </a:ext>
              </a:extLst>
            </p:cNvPr>
            <p:cNvSpPr txBox="1"/>
            <p:nvPr/>
          </p:nvSpPr>
          <p:spPr>
            <a:xfrm>
              <a:off x="1111852" y="3881088"/>
              <a:ext cx="1324494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Steroid Receptors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14A52A0-CEA4-0C41-F51E-1A4055948742}"/>
                </a:ext>
              </a:extLst>
            </p:cNvPr>
            <p:cNvSpPr txBox="1"/>
            <p:nvPr/>
          </p:nvSpPr>
          <p:spPr>
            <a:xfrm>
              <a:off x="1215336" y="2652948"/>
              <a:ext cx="122101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Endothelial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D4C108AF-FE39-9342-9BE0-F3AACD1C6A70}"/>
                </a:ext>
              </a:extLst>
            </p:cNvPr>
            <p:cNvSpPr txBox="1"/>
            <p:nvPr/>
          </p:nvSpPr>
          <p:spPr>
            <a:xfrm>
              <a:off x="397405" y="3851410"/>
              <a:ext cx="106609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Neuropeptides and Steroid Hormones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41250090-D42E-DD78-7929-D34DFBEB4F89}"/>
                </a:ext>
              </a:extLst>
            </p:cNvPr>
            <p:cNvSpPr txBox="1"/>
            <p:nvPr/>
          </p:nvSpPr>
          <p:spPr>
            <a:xfrm>
              <a:off x="1533064" y="6376452"/>
              <a:ext cx="90328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Neuron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347004E-54F3-8C94-6E6F-F33269E6C7CE}"/>
                </a:ext>
              </a:extLst>
            </p:cNvPr>
            <p:cNvSpPr txBox="1"/>
            <p:nvPr/>
          </p:nvSpPr>
          <p:spPr>
            <a:xfrm>
              <a:off x="397405" y="2652490"/>
              <a:ext cx="106609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>
                  <a:latin typeface="Arial" panose="020B0604020202020204" pitchFamily="34" charset="0"/>
                  <a:cs typeface="Arial" panose="020B0604020202020204" pitchFamily="34" charset="0"/>
                </a:rPr>
                <a:t>Fibroblast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24D751A-7019-A1AE-0AD4-A8BAF62EACDB}"/>
                </a:ext>
              </a:extLst>
            </p:cNvPr>
            <p:cNvSpPr/>
            <p:nvPr/>
          </p:nvSpPr>
          <p:spPr>
            <a:xfrm>
              <a:off x="387880" y="2585352"/>
              <a:ext cx="5814800" cy="3951262"/>
            </a:xfrm>
            <a:prstGeom prst="rect">
              <a:avLst/>
            </a:prstGeom>
            <a:noFill/>
            <a:ln w="12700"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139BDDA5-781E-C1A7-DBEA-EBB33B4A01C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2940400"/>
              <a:ext cx="2516625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6114697-6A33-862E-A7F1-0A0486B83D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880" y="5313489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35AE6DB-81B7-1BFB-4DEB-76891F6112D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97405" y="6010265"/>
              <a:ext cx="2543366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FCE5B472-A890-B725-5CB9-6B662537692A}"/>
              </a:ext>
            </a:extLst>
          </p:cNvPr>
          <p:cNvSpPr txBox="1"/>
          <p:nvPr/>
        </p:nvSpPr>
        <p:spPr>
          <a:xfrm>
            <a:off x="774700" y="11944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238A16BF-271B-601F-0498-3805974BF14C}"/>
              </a:ext>
            </a:extLst>
          </p:cNvPr>
          <p:cNvSpPr txBox="1"/>
          <p:nvPr/>
        </p:nvSpPr>
        <p:spPr>
          <a:xfrm>
            <a:off x="3366988" y="0"/>
            <a:ext cx="17072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ATAC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F44D2B9-AD74-9197-DAE2-2A9B009BC581}"/>
              </a:ext>
            </a:extLst>
          </p:cNvPr>
          <p:cNvSpPr txBox="1"/>
          <p:nvPr/>
        </p:nvSpPr>
        <p:spPr>
          <a:xfrm>
            <a:off x="5841826" y="1510"/>
            <a:ext cx="1773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RNA + ATAC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490194-3B68-3F07-27ED-FCEB56DADDFA}"/>
              </a:ext>
            </a:extLst>
          </p:cNvPr>
          <p:cNvSpPr txBox="1"/>
          <p:nvPr/>
        </p:nvSpPr>
        <p:spPr>
          <a:xfrm>
            <a:off x="40893" y="667090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e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E88164-04E3-51E6-6145-D66050235CA1}"/>
              </a:ext>
            </a:extLst>
          </p:cNvPr>
          <p:cNvSpPr txBox="1"/>
          <p:nvPr/>
        </p:nvSpPr>
        <p:spPr>
          <a:xfrm>
            <a:off x="3774693" y="667090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f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74" name="Graphic 73">
            <a:extLst>
              <a:ext uri="{FF2B5EF4-FFF2-40B4-BE49-F238E27FC236}">
                <a16:creationId xmlns:a16="http://schemas.microsoft.com/office/drawing/2014/main" id="{F70CE1A5-B18E-0A02-8A73-E874619980A1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9521" y="6759801"/>
            <a:ext cx="3657600" cy="1828800"/>
          </a:xfrm>
          <a:prstGeom prst="rect">
            <a:avLst/>
          </a:prstGeom>
        </p:spPr>
      </p:pic>
      <p:sp>
        <p:nvSpPr>
          <p:cNvPr id="129" name="TextBox 128">
            <a:extLst>
              <a:ext uri="{FF2B5EF4-FFF2-40B4-BE49-F238E27FC236}">
                <a16:creationId xmlns:a16="http://schemas.microsoft.com/office/drawing/2014/main" id="{6B39FA4A-441E-BB78-AC98-2B0E5E4CD624}"/>
              </a:ext>
            </a:extLst>
          </p:cNvPr>
          <p:cNvSpPr txBox="1"/>
          <p:nvPr/>
        </p:nvSpPr>
        <p:spPr>
          <a:xfrm>
            <a:off x="3212986" y="8297585"/>
            <a:ext cx="13483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latin typeface="Arial" panose="020B0604020202020204" pitchFamily="34" charset="0"/>
                <a:cs typeface="Arial" panose="020B0604020202020204" pitchFamily="34" charset="0"/>
              </a:rPr>
              <a:t>Expression Pattern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2FBC48C9-6670-A322-309A-8017629827B9}"/>
              </a:ext>
            </a:extLst>
          </p:cNvPr>
          <p:cNvSpPr txBox="1"/>
          <p:nvPr/>
        </p:nvSpPr>
        <p:spPr>
          <a:xfrm>
            <a:off x="40895" y="8573638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g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28" name="Graphic 127">
            <a:extLst>
              <a:ext uri="{FF2B5EF4-FFF2-40B4-BE49-F238E27FC236}">
                <a16:creationId xmlns:a16="http://schemas.microsoft.com/office/drawing/2014/main" id="{1E3907D1-CC57-05A1-F5E8-7692B9E8B323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1699" y="8487370"/>
            <a:ext cx="7772400" cy="139520"/>
          </a:xfrm>
          <a:prstGeom prst="rect">
            <a:avLst/>
          </a:prstGeom>
        </p:spPr>
      </p:pic>
      <p:sp>
        <p:nvSpPr>
          <p:cNvPr id="162" name="TextBox 161">
            <a:extLst>
              <a:ext uri="{FF2B5EF4-FFF2-40B4-BE49-F238E27FC236}">
                <a16:creationId xmlns:a16="http://schemas.microsoft.com/office/drawing/2014/main" id="{3303B5EC-26BE-7540-41EB-2C08D4251C5B}"/>
              </a:ext>
            </a:extLst>
          </p:cNvPr>
          <p:cNvSpPr txBox="1"/>
          <p:nvPr/>
        </p:nvSpPr>
        <p:spPr>
          <a:xfrm>
            <a:off x="3776732" y="8584554"/>
            <a:ext cx="252090" cy="4063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41" dirty="0">
                <a:latin typeface="Aptos Black" panose="020F0502020204030204" pitchFamily="34" charset="0"/>
                <a:cs typeface="Helvetica" panose="020B0604020202020204" pitchFamily="34" charset="0"/>
              </a:rPr>
              <a:t>h</a:t>
            </a:r>
            <a:endParaRPr lang="en-US" sz="892" dirty="0">
              <a:latin typeface="Aptos Black" panose="020F0502020204030204" pitchFamily="34" charset="0"/>
              <a:cs typeface="Helvetica" panose="020B0604020202020204" pitchFamily="34" charset="0"/>
            </a:endParaRPr>
          </a:p>
        </p:txBody>
      </p:sp>
      <p:pic>
        <p:nvPicPr>
          <p:cNvPr id="172" name="Graphic 171">
            <a:extLst>
              <a:ext uri="{FF2B5EF4-FFF2-40B4-BE49-F238E27FC236}">
                <a16:creationId xmlns:a16="http://schemas.microsoft.com/office/drawing/2014/main" id="{E09853DD-6420-DC24-2AD5-5EF747E195C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3960671" y="6759801"/>
            <a:ext cx="3657600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6598304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raphic 9">
            <a:extLst>
              <a:ext uri="{FF2B5EF4-FFF2-40B4-BE49-F238E27FC236}">
                <a16:creationId xmlns:a16="http://schemas.microsoft.com/office/drawing/2014/main" id="{F29B8E14-C75D-43CD-41C5-2493F3E8C4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3200400" cy="1833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3831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4761</TotalTime>
  <Words>89</Words>
  <Application>Microsoft Macintosh PowerPoint</Application>
  <PresentationFormat>Custom</PresentationFormat>
  <Paragraphs>59</Paragraphs>
  <Slides>3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9" baseType="lpstr">
      <vt:lpstr>Aptos</vt:lpstr>
      <vt:lpstr>Aptos Black</vt:lpstr>
      <vt:lpstr>Aptos Display</vt:lpstr>
      <vt:lpstr>Arial</vt:lpstr>
      <vt:lpstr>Google Sans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Graham, Gabe</dc:creator>
  <cp:lastModifiedBy>Graham, Gabe</cp:lastModifiedBy>
  <cp:revision>24</cp:revision>
  <dcterms:created xsi:type="dcterms:W3CDTF">2025-02-13T20:55:36Z</dcterms:created>
  <dcterms:modified xsi:type="dcterms:W3CDTF">2025-02-22T16:01:53Z</dcterms:modified>
</cp:coreProperties>
</file>