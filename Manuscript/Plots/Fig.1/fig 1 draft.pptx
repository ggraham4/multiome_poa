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1033"/>
    <a:srgbClr val="BE0718"/>
    <a:srgbClr val="D10712"/>
    <a:srgbClr val="AA5F73"/>
    <a:srgbClr val="80102E"/>
    <a:srgbClr val="5C143D"/>
    <a:srgbClr val="C60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99" d="100"/>
          <a:sy n="199" d="100"/>
        </p:scale>
        <p:origin x="-704" y="-2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CE40F-B42E-7741-B44E-F0ADB767A840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474F9-B550-6249-9D42-4D22829C4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6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474F9-B550-6249-9D42-4D22829C42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320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EEBB-CDFA-7449-B351-E7A55643E08C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51C28-3C20-EF48-BE8F-04C4F6BFD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54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EEBB-CDFA-7449-B351-E7A55643E08C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51C28-3C20-EF48-BE8F-04C4F6BFD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997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EEBB-CDFA-7449-B351-E7A55643E08C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51C28-3C20-EF48-BE8F-04C4F6BFD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91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EEBB-CDFA-7449-B351-E7A55643E08C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51C28-3C20-EF48-BE8F-04C4F6BFD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992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EEBB-CDFA-7449-B351-E7A55643E08C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51C28-3C20-EF48-BE8F-04C4F6BFD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137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EEBB-CDFA-7449-B351-E7A55643E08C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51C28-3C20-EF48-BE8F-04C4F6BFD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56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EEBB-CDFA-7449-B351-E7A55643E08C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51C28-3C20-EF48-BE8F-04C4F6BFD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96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EEBB-CDFA-7449-B351-E7A55643E08C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51C28-3C20-EF48-BE8F-04C4F6BFD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308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EEBB-CDFA-7449-B351-E7A55643E08C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51C28-3C20-EF48-BE8F-04C4F6BFD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534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EEBB-CDFA-7449-B351-E7A55643E08C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51C28-3C20-EF48-BE8F-04C4F6BFD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266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EEBB-CDFA-7449-B351-E7A55643E08C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51C28-3C20-EF48-BE8F-04C4F6BFD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048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6AEEBB-CDFA-7449-B351-E7A55643E08C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751C28-3C20-EF48-BE8F-04C4F6BFD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085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jpe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7.jpe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26709D98-B7CA-65D8-5306-AFAAD53A64A7}"/>
              </a:ext>
            </a:extLst>
          </p:cNvPr>
          <p:cNvSpPr txBox="1"/>
          <p:nvPr/>
        </p:nvSpPr>
        <p:spPr>
          <a:xfrm>
            <a:off x="-5054599" y="577516"/>
            <a:ext cx="372218" cy="4985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40" b="1" dirty="0">
                <a:latin typeface="Helvetica" pitchFamily="2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81F98D6-81EC-928F-E2EB-552E5DB0AB16}"/>
              </a:ext>
            </a:extLst>
          </p:cNvPr>
          <p:cNvGrpSpPr/>
          <p:nvPr/>
        </p:nvGrpSpPr>
        <p:grpSpPr>
          <a:xfrm>
            <a:off x="561887" y="-84277"/>
            <a:ext cx="6634155" cy="2349063"/>
            <a:chOff x="554433" y="48168"/>
            <a:chExt cx="6634155" cy="2349063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3F3254D-8855-374C-A417-4829256562DA}"/>
                </a:ext>
              </a:extLst>
            </p:cNvPr>
            <p:cNvSpPr txBox="1"/>
            <p:nvPr/>
          </p:nvSpPr>
          <p:spPr>
            <a:xfrm>
              <a:off x="4665699" y="1930739"/>
              <a:ext cx="1970293" cy="230832"/>
            </a:xfrm>
            <a:prstGeom prst="rect">
              <a:avLst/>
            </a:prstGeom>
            <a:gradFill>
              <a:gsLst>
                <a:gs pos="0">
                  <a:srgbClr val="D10712"/>
                </a:gs>
                <a:gs pos="49500">
                  <a:schemeClr val="bg1"/>
                </a:gs>
                <a:gs pos="99000">
                  <a:srgbClr val="D10712"/>
                </a:gs>
              </a:gsLst>
              <a:lin ang="0" scaled="0"/>
            </a:gra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Oogenesis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BF8ED9-33F1-50DE-5D75-DF20B63B7324}"/>
                </a:ext>
              </a:extLst>
            </p:cNvPr>
            <p:cNvSpPr txBox="1"/>
            <p:nvPr/>
          </p:nvSpPr>
          <p:spPr>
            <a:xfrm>
              <a:off x="5793329" y="2164066"/>
              <a:ext cx="840979" cy="230832"/>
            </a:xfrm>
            <a:prstGeom prst="rect">
              <a:avLst/>
            </a:prstGeom>
            <a:gradFill>
              <a:gsLst>
                <a:gs pos="0">
                  <a:srgbClr val="FF0000"/>
                </a:gs>
                <a:gs pos="49500">
                  <a:schemeClr val="bg1"/>
                </a:gs>
                <a:gs pos="99000">
                  <a:srgbClr val="FF0000"/>
                </a:gs>
              </a:gsLst>
              <a:lin ang="0" scaled="0"/>
            </a:gra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/>
                <a:t>↓ </a:t>
              </a:r>
              <a:r>
                <a:rPr lang="en-US" sz="900" dirty="0"/>
                <a:t>Parenting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33F1569-F5AD-3BB4-0E63-10980DAA66B7}"/>
                </a:ext>
              </a:extLst>
            </p:cNvPr>
            <p:cNvSpPr txBox="1"/>
            <p:nvPr/>
          </p:nvSpPr>
          <p:spPr>
            <a:xfrm>
              <a:off x="1148391" y="1695024"/>
              <a:ext cx="2745277" cy="230832"/>
            </a:xfrm>
            <a:prstGeom prst="rect">
              <a:avLst/>
            </a:prstGeom>
            <a:gradFill>
              <a:gsLst>
                <a:gs pos="0">
                  <a:srgbClr val="002060"/>
                </a:gs>
                <a:gs pos="49500">
                  <a:schemeClr val="bg1"/>
                </a:gs>
                <a:gs pos="99000">
                  <a:srgbClr val="002060"/>
                </a:gs>
              </a:gsLst>
              <a:lin ang="0" scaled="0"/>
            </a:gra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Growth, Testicular Degeneration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0FFE115-423A-EA6F-82A1-3B79BE3BCDE0}"/>
                </a:ext>
              </a:extLst>
            </p:cNvPr>
            <p:cNvCxnSpPr>
              <a:cxnSpLocks/>
            </p:cNvCxnSpPr>
            <p:nvPr/>
          </p:nvCxnSpPr>
          <p:spPr>
            <a:xfrm>
              <a:off x="1099335" y="1358644"/>
              <a:ext cx="5544353" cy="9047"/>
            </a:xfrm>
            <a:prstGeom prst="line">
              <a:avLst/>
            </a:prstGeom>
            <a:ln w="88900">
              <a:gradFill>
                <a:gsLst>
                  <a:gs pos="0">
                    <a:srgbClr val="002060">
                      <a:lumMod val="100000"/>
                    </a:srgbClr>
                  </a:gs>
                  <a:gs pos="99000">
                    <a:srgbClr val="FF0000"/>
                  </a:gs>
                </a:gsLst>
                <a:lin ang="216000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B619C2D-E36B-C361-1A12-58E1EB99AA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1944" y="1263783"/>
              <a:ext cx="182880" cy="18288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AF24398-8DCC-F005-5162-3112CC7F14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06918" y="1270089"/>
              <a:ext cx="182880" cy="18288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F783DB6-4B2C-843A-BA68-7955DADA4F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02228" y="1261913"/>
              <a:ext cx="182880" cy="182880"/>
            </a:xfrm>
            <a:prstGeom prst="ellipse">
              <a:avLst/>
            </a:prstGeom>
            <a:solidFill>
              <a:schemeClr val="tx1"/>
            </a:solidFill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4A253C9-7AA8-0AC6-0A24-BC73EDA1373C}"/>
                </a:ext>
              </a:extLst>
            </p:cNvPr>
            <p:cNvSpPr txBox="1"/>
            <p:nvPr/>
          </p:nvSpPr>
          <p:spPr>
            <a:xfrm>
              <a:off x="699621" y="991263"/>
              <a:ext cx="7108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Pairing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E48A05F-D101-CB20-5C3D-8AB814B71703}"/>
                </a:ext>
              </a:extLst>
            </p:cNvPr>
            <p:cNvSpPr txBox="1"/>
            <p:nvPr/>
          </p:nvSpPr>
          <p:spPr>
            <a:xfrm>
              <a:off x="2071899" y="1008968"/>
              <a:ext cx="9012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6 Months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5E4B3707-9CBE-713C-E34F-1B2A3C72BF3D}"/>
                </a:ext>
              </a:extLst>
            </p:cNvPr>
            <p:cNvGrpSpPr/>
            <p:nvPr/>
          </p:nvGrpSpPr>
          <p:grpSpPr>
            <a:xfrm>
              <a:off x="554433" y="48168"/>
              <a:ext cx="6634155" cy="1033577"/>
              <a:chOff x="431896" y="1145571"/>
              <a:chExt cx="6634155" cy="1033577"/>
            </a:xfrm>
          </p:grpSpPr>
          <p:pic>
            <p:nvPicPr>
              <p:cNvPr id="60" name="Picture 2" descr="Clownfish - Free vector clipart images on creazilla.com">
                <a:extLst>
                  <a:ext uri="{FF2B5EF4-FFF2-40B4-BE49-F238E27FC236}">
                    <a16:creationId xmlns:a16="http://schemas.microsoft.com/office/drawing/2014/main" id="{1E796153-373B-0815-DB76-DA3B11A8A07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877609" y="1823745"/>
                <a:ext cx="680196" cy="355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1" name="Picture 2" descr="Clownfish - Free vector clipart images on creazilla.com">
                <a:extLst>
                  <a:ext uri="{FF2B5EF4-FFF2-40B4-BE49-F238E27FC236}">
                    <a16:creationId xmlns:a16="http://schemas.microsoft.com/office/drawing/2014/main" id="{290F99BB-DDB7-4D9B-DA40-D5D6FDFBDD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457120" y="1578001"/>
                <a:ext cx="741320" cy="3873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0A6E943-BF98-60FC-0A08-C0D6AD11C0B0}"/>
                  </a:ext>
                </a:extLst>
              </p:cNvPr>
              <p:cNvSpPr txBox="1"/>
              <p:nvPr/>
            </p:nvSpPr>
            <p:spPr>
              <a:xfrm>
                <a:off x="1063423" y="1430378"/>
                <a:ext cx="5127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Google Sans"/>
                  </a:rPr>
                  <a:t>♂</a:t>
                </a:r>
                <a:endParaRPr lang="en-US" sz="2800" dirty="0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B2EEA8A-8655-E013-0245-4427B52C97CE}"/>
                  </a:ext>
                </a:extLst>
              </p:cNvPr>
              <p:cNvSpPr txBox="1"/>
              <p:nvPr/>
            </p:nvSpPr>
            <p:spPr>
              <a:xfrm>
                <a:off x="431896" y="1248451"/>
                <a:ext cx="5127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Google Sans"/>
                  </a:rPr>
                  <a:t>♂</a:t>
                </a:r>
                <a:endParaRPr lang="en-US" sz="2800" dirty="0"/>
              </a:p>
            </p:txBody>
          </p:sp>
          <p:pic>
            <p:nvPicPr>
              <p:cNvPr id="64" name="Picture 2" descr="Clownfish - Free vector clipart images on creazilla.com">
                <a:extLst>
                  <a:ext uri="{FF2B5EF4-FFF2-40B4-BE49-F238E27FC236}">
                    <a16:creationId xmlns:a16="http://schemas.microsoft.com/office/drawing/2014/main" id="{169E6A8A-9FD7-E1CD-8D2A-309244B009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3637619" y="1791807"/>
                <a:ext cx="676656" cy="3535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5" name="Picture 2" descr="Clownfish - Free vector clipart images on creazilla.com">
                <a:extLst>
                  <a:ext uri="{FF2B5EF4-FFF2-40B4-BE49-F238E27FC236}">
                    <a16:creationId xmlns:a16="http://schemas.microsoft.com/office/drawing/2014/main" id="{7D0C8932-78D6-D69E-1317-698227AB54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3217130" y="1525929"/>
                <a:ext cx="840979" cy="43941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6CC4DB4-D59E-63CD-2F96-C6E01078446E}"/>
                  </a:ext>
                </a:extLst>
              </p:cNvPr>
              <p:cNvSpPr txBox="1"/>
              <p:nvPr/>
            </p:nvSpPr>
            <p:spPr>
              <a:xfrm>
                <a:off x="3984776" y="1376368"/>
                <a:ext cx="5127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IP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1848B28-43B4-2770-9650-1817EC60EF14}"/>
                  </a:ext>
                </a:extLst>
              </p:cNvPr>
              <p:cNvSpPr txBox="1"/>
              <p:nvPr/>
            </p:nvSpPr>
            <p:spPr>
              <a:xfrm>
                <a:off x="3215547" y="1169891"/>
                <a:ext cx="5127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</a:p>
            </p:txBody>
          </p:sp>
          <p:pic>
            <p:nvPicPr>
              <p:cNvPr id="68" name="Picture 2" descr="Clownfish - Free vector clipart images on creazilla.com">
                <a:extLst>
                  <a:ext uri="{FF2B5EF4-FFF2-40B4-BE49-F238E27FC236}">
                    <a16:creationId xmlns:a16="http://schemas.microsoft.com/office/drawing/2014/main" id="{48C1F3AC-D48F-98BE-5E6B-C1FC627F49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6389395" y="1777647"/>
                <a:ext cx="676656" cy="3535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9" name="Picture 2" descr="Clownfish - Free vector clipart images on creazilla.com">
                <a:extLst>
                  <a:ext uri="{FF2B5EF4-FFF2-40B4-BE49-F238E27FC236}">
                    <a16:creationId xmlns:a16="http://schemas.microsoft.com/office/drawing/2014/main" id="{02BE9EEA-91D4-5A42-D597-258DFCFFD5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5631025" y="1464428"/>
                <a:ext cx="1050028" cy="5486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8DC04A0-74F1-1A6A-22A8-047B47981413}"/>
                  </a:ext>
                </a:extLst>
              </p:cNvPr>
              <p:cNvSpPr txBox="1"/>
              <p:nvPr/>
            </p:nvSpPr>
            <p:spPr>
              <a:xfrm>
                <a:off x="6553320" y="1399752"/>
                <a:ext cx="5127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Google Sans"/>
                  </a:rPr>
                  <a:t>♂</a:t>
                </a:r>
                <a:endParaRPr lang="en-US" sz="2800" dirty="0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099452C-3A4E-EBD2-6B93-280C445A9A86}"/>
                  </a:ext>
                </a:extLst>
              </p:cNvPr>
              <p:cNvSpPr txBox="1"/>
              <p:nvPr/>
            </p:nvSpPr>
            <p:spPr>
              <a:xfrm>
                <a:off x="5814257" y="1145571"/>
                <a:ext cx="5127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♀</a:t>
                </a: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6CEEABA-B401-9D00-1DCF-B4A54550F630}"/>
                </a:ext>
              </a:extLst>
            </p:cNvPr>
            <p:cNvSpPr txBox="1"/>
            <p:nvPr/>
          </p:nvSpPr>
          <p:spPr>
            <a:xfrm>
              <a:off x="4815518" y="1003978"/>
              <a:ext cx="10342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6 Months +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850B4E2-7AB5-E482-18B8-95019AB329EA}"/>
                </a:ext>
              </a:extLst>
            </p:cNvPr>
            <p:cNvSpPr txBox="1"/>
            <p:nvPr/>
          </p:nvSpPr>
          <p:spPr>
            <a:xfrm>
              <a:off x="3447871" y="1001649"/>
              <a:ext cx="9124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Sampling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02C13CF-088F-C93C-F2DB-8664077221ED}"/>
                </a:ext>
              </a:extLst>
            </p:cNvPr>
            <p:cNvSpPr txBox="1"/>
            <p:nvPr/>
          </p:nvSpPr>
          <p:spPr>
            <a:xfrm>
              <a:off x="6044218" y="999867"/>
              <a:ext cx="10943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Sex Change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7B1328C-2025-4142-78FB-DC3175F47B3C}"/>
                </a:ext>
              </a:extLst>
            </p:cNvPr>
            <p:cNvSpPr txBox="1"/>
            <p:nvPr/>
          </p:nvSpPr>
          <p:spPr>
            <a:xfrm>
              <a:off x="2682439" y="2166399"/>
              <a:ext cx="1211229" cy="230832"/>
            </a:xfrm>
            <a:prstGeom prst="rect">
              <a:avLst/>
            </a:prstGeom>
            <a:gradFill>
              <a:gsLst>
                <a:gs pos="0">
                  <a:srgbClr val="5C143D"/>
                </a:gs>
                <a:gs pos="49500">
                  <a:schemeClr val="bg1"/>
                </a:gs>
                <a:gs pos="99000">
                  <a:srgbClr val="5C143D"/>
                </a:gs>
              </a:gsLst>
              <a:lin ang="0" scaled="0"/>
            </a:gra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↑ Aggression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D4C4FDB-23A7-27D7-6EF4-53721E802DA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144075" y="1465440"/>
              <a:ext cx="5491917" cy="228600"/>
            </a:xfrm>
            <a:prstGeom prst="rect">
              <a:avLst/>
            </a:prstGeom>
            <a:gradFill>
              <a:gsLst>
                <a:gs pos="0">
                  <a:srgbClr val="80102E"/>
                </a:gs>
                <a:gs pos="49500">
                  <a:schemeClr val="bg1"/>
                </a:gs>
                <a:gs pos="98000">
                  <a:srgbClr val="80102E"/>
                </a:gs>
              </a:gsLst>
              <a:lin ang="0" scaled="0"/>
            </a:gra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↑ Neurogenesis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7CE5B34-7E7A-9313-B0B7-E3A26871FB82}"/>
                </a:ext>
              </a:extLst>
            </p:cNvPr>
            <p:cNvSpPr txBox="1"/>
            <p:nvPr/>
          </p:nvSpPr>
          <p:spPr>
            <a:xfrm>
              <a:off x="3886200" y="1695136"/>
              <a:ext cx="2745277" cy="230832"/>
            </a:xfrm>
            <a:prstGeom prst="rect">
              <a:avLst/>
            </a:prstGeom>
            <a:gradFill>
              <a:gsLst>
                <a:gs pos="0">
                  <a:srgbClr val="BE0718"/>
                </a:gs>
                <a:gs pos="49500">
                  <a:schemeClr val="bg1"/>
                </a:gs>
                <a:gs pos="99000">
                  <a:srgbClr val="BE0718"/>
                </a:gs>
              </a:gsLst>
              <a:lin ang="0" scaled="0"/>
            </a:gra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/>
                <a:t>↓ </a:t>
              </a:r>
              <a:r>
                <a:rPr lang="en-US" sz="900" dirty="0"/>
                <a:t>11-KT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305A34D-F30E-675E-DE45-E9BA5A3A1935}"/>
                </a:ext>
              </a:extLst>
            </p:cNvPr>
            <p:cNvSpPr txBox="1"/>
            <p:nvPr/>
          </p:nvSpPr>
          <p:spPr>
            <a:xfrm>
              <a:off x="2682439" y="1929449"/>
              <a:ext cx="1983260" cy="230832"/>
            </a:xfrm>
            <a:prstGeom prst="rect">
              <a:avLst/>
            </a:prstGeom>
            <a:gradFill>
              <a:gsLst>
                <a:gs pos="0">
                  <a:srgbClr val="741033"/>
                </a:gs>
                <a:gs pos="49500">
                  <a:schemeClr val="bg1"/>
                </a:gs>
                <a:gs pos="99000">
                  <a:srgbClr val="741033"/>
                </a:gs>
              </a:gsLst>
              <a:lin ang="0" scaled="0"/>
            </a:gra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↑ E2</a:t>
              </a: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72B3BD14-669E-279B-FCAE-2B6C062BF658}"/>
              </a:ext>
            </a:extLst>
          </p:cNvPr>
          <p:cNvSpPr txBox="1"/>
          <p:nvPr/>
        </p:nvSpPr>
        <p:spPr>
          <a:xfrm>
            <a:off x="4849" y="-733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Helvetica" pitchFamily="2" charset="0"/>
              </a:rPr>
              <a:t>a</a:t>
            </a:r>
            <a:endParaRPr lang="en-US" sz="3200" b="1" dirty="0">
              <a:latin typeface="Helvetica" pitchFamily="2" charset="0"/>
            </a:endParaRP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1C224743-3A8D-DF8B-4566-46DB9DB99460}"/>
              </a:ext>
            </a:extLst>
          </p:cNvPr>
          <p:cNvGrpSpPr/>
          <p:nvPr/>
        </p:nvGrpSpPr>
        <p:grpSpPr>
          <a:xfrm>
            <a:off x="13131" y="2283416"/>
            <a:ext cx="2967431" cy="5098114"/>
            <a:chOff x="10949" y="2272792"/>
            <a:chExt cx="2422239" cy="4161462"/>
          </a:xfrm>
        </p:grpSpPr>
        <p:pic>
          <p:nvPicPr>
            <p:cNvPr id="124" name="Graphic 123">
              <a:extLst>
                <a:ext uri="{FF2B5EF4-FFF2-40B4-BE49-F238E27FC236}">
                  <a16:creationId xmlns:a16="http://schemas.microsoft.com/office/drawing/2014/main" id="{EB92D471-CE11-408B-2941-977C4A768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7115" y="2632332"/>
              <a:ext cx="2216073" cy="1481328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288CDC3F-1502-4855-C0A1-9C59ABE50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7115" y="3795703"/>
              <a:ext cx="2216073" cy="1477382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638DD8A-142B-D25A-BD38-CCA1B05946FD}"/>
                </a:ext>
              </a:extLst>
            </p:cNvPr>
            <p:cNvSpPr txBox="1"/>
            <p:nvPr/>
          </p:nvSpPr>
          <p:spPr>
            <a:xfrm>
              <a:off x="10949" y="2283755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Helvetica" pitchFamily="2" charset="0"/>
                </a:rPr>
                <a:t>b</a:t>
              </a:r>
              <a:endParaRPr lang="en-US" sz="3200" b="1" dirty="0">
                <a:latin typeface="Helvetica" pitchFamily="2" charset="0"/>
              </a:endParaRPr>
            </a:p>
          </p:txBody>
        </p:sp>
        <p:pic>
          <p:nvPicPr>
            <p:cNvPr id="89" name="Graphic 88">
              <a:extLst>
                <a:ext uri="{FF2B5EF4-FFF2-40B4-BE49-F238E27FC236}">
                  <a16:creationId xmlns:a16="http://schemas.microsoft.com/office/drawing/2014/main" id="{00D6E98F-FCC4-FF61-75BF-112808B128F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l="64053" t="21771" r="6855" b="67280"/>
            <a:stretch>
              <a:fillRect/>
            </a:stretch>
          </p:blipFill>
          <p:spPr>
            <a:xfrm>
              <a:off x="969554" y="2272792"/>
              <a:ext cx="909492" cy="195577"/>
            </a:xfrm>
            <a:prstGeom prst="rect">
              <a:avLst/>
            </a:prstGeom>
          </p:spPr>
        </p:pic>
        <p:pic>
          <p:nvPicPr>
            <p:cNvPr id="88" name="Graphic 87">
              <a:extLst>
                <a:ext uri="{FF2B5EF4-FFF2-40B4-BE49-F238E27FC236}">
                  <a16:creationId xmlns:a16="http://schemas.microsoft.com/office/drawing/2014/main" id="{349DA15D-02A0-041F-205A-75F112443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l="67855" t="34725" b="54938"/>
            <a:stretch>
              <a:fillRect/>
            </a:stretch>
          </p:blipFill>
          <p:spPr>
            <a:xfrm>
              <a:off x="611654" y="2447567"/>
              <a:ext cx="1004913" cy="184666"/>
            </a:xfrm>
            <a:prstGeom prst="rect">
              <a:avLst/>
            </a:prstGeom>
          </p:spPr>
        </p:pic>
        <p:pic>
          <p:nvPicPr>
            <p:cNvPr id="87" name="Graphic 86">
              <a:extLst>
                <a:ext uri="{FF2B5EF4-FFF2-40B4-BE49-F238E27FC236}">
                  <a16:creationId xmlns:a16="http://schemas.microsoft.com/office/drawing/2014/main" id="{C241DFC8-53A8-A6B7-7EBA-12461FCD9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l="67553" t="47870" r="3489" b="43886"/>
            <a:stretch>
              <a:fillRect/>
            </a:stretch>
          </p:blipFill>
          <p:spPr>
            <a:xfrm>
              <a:off x="1479564" y="2468369"/>
              <a:ext cx="905289" cy="147280"/>
            </a:xfrm>
            <a:prstGeom prst="rect">
              <a:avLst/>
            </a:prstGeom>
          </p:spPr>
        </p:pic>
        <p:pic>
          <p:nvPicPr>
            <p:cNvPr id="105" name="Graphic 104">
              <a:extLst>
                <a:ext uri="{FF2B5EF4-FFF2-40B4-BE49-F238E27FC236}">
                  <a16:creationId xmlns:a16="http://schemas.microsoft.com/office/drawing/2014/main" id="{3057D9EA-2583-7ECE-2E67-945A1D6AA0A4}"/>
                </a:ext>
              </a:extLst>
            </p:cNvPr>
            <p:cNvPicPr>
              <a:picLocks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41936" y="4952926"/>
              <a:ext cx="2191252" cy="1481328"/>
            </a:xfrm>
            <a:prstGeom prst="rect">
              <a:avLst/>
            </a:prstGeom>
          </p:spPr>
        </p:pic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5A70C5BE-9F77-66A7-FDA1-5C8160833DCA}"/>
              </a:ext>
            </a:extLst>
          </p:cNvPr>
          <p:cNvGrpSpPr/>
          <p:nvPr/>
        </p:nvGrpSpPr>
        <p:grpSpPr>
          <a:xfrm>
            <a:off x="3101282" y="2695052"/>
            <a:ext cx="2408743" cy="4690839"/>
            <a:chOff x="3101282" y="2631746"/>
            <a:chExt cx="2408743" cy="4690839"/>
          </a:xfrm>
        </p:grpSpPr>
        <p:pic>
          <p:nvPicPr>
            <p:cNvPr id="120" name="Graphic 119">
              <a:extLst>
                <a:ext uri="{FF2B5EF4-FFF2-40B4-BE49-F238E27FC236}">
                  <a16:creationId xmlns:a16="http://schemas.microsoft.com/office/drawing/2014/main" id="{60B73CCD-E997-629D-A07E-30FFD5CF072A}"/>
                </a:ext>
              </a:extLst>
            </p:cNvPr>
            <p:cNvPicPr>
              <a:picLocks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176858" y="2631746"/>
              <a:ext cx="2331720" cy="1819656"/>
            </a:xfrm>
            <a:prstGeom prst="rect">
              <a:avLst/>
            </a:prstGeom>
          </p:spPr>
        </p:pic>
        <p:pic>
          <p:nvPicPr>
            <p:cNvPr id="122" name="Graphic 121">
              <a:extLst>
                <a:ext uri="{FF2B5EF4-FFF2-40B4-BE49-F238E27FC236}">
                  <a16:creationId xmlns:a16="http://schemas.microsoft.com/office/drawing/2014/main" id="{4EA92489-8DB0-9B14-223F-48AEDEF7C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101282" y="4054828"/>
              <a:ext cx="2398684" cy="1819656"/>
            </a:xfrm>
            <a:prstGeom prst="rect">
              <a:avLst/>
            </a:prstGeom>
          </p:spPr>
        </p:pic>
        <p:pic>
          <p:nvPicPr>
            <p:cNvPr id="129" name="Graphic 128">
              <a:extLst>
                <a:ext uri="{FF2B5EF4-FFF2-40B4-BE49-F238E27FC236}">
                  <a16:creationId xmlns:a16="http://schemas.microsoft.com/office/drawing/2014/main" id="{9031AA75-8220-323F-C1CD-4B3FCB13221C}"/>
                </a:ext>
              </a:extLst>
            </p:cNvPr>
            <p:cNvPicPr>
              <a:picLocks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200513" y="5502929"/>
              <a:ext cx="2309512" cy="1819656"/>
            </a:xfrm>
            <a:prstGeom prst="rect">
              <a:avLst/>
            </a:prstGeom>
          </p:spPr>
        </p:pic>
        <p:pic>
          <p:nvPicPr>
            <p:cNvPr id="130" name="Graphic 129">
              <a:extLst>
                <a:ext uri="{FF2B5EF4-FFF2-40B4-BE49-F238E27FC236}">
                  <a16:creationId xmlns:a16="http://schemas.microsoft.com/office/drawing/2014/main" id="{DAE6D756-3AA0-3E33-E49D-B53242088E39}"/>
                </a:ext>
              </a:extLst>
            </p:cNvPr>
            <p:cNvPicPr>
              <a:picLocks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 b="97052"/>
            <a:stretch>
              <a:fillRect/>
            </a:stretch>
          </p:blipFill>
          <p:spPr>
            <a:xfrm>
              <a:off x="3751007" y="5483937"/>
              <a:ext cx="1702846" cy="61431"/>
            </a:xfrm>
            <a:prstGeom prst="rect">
              <a:avLst/>
            </a:prstGeom>
          </p:spPr>
        </p:pic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349CF536-3BC0-37C6-62A3-E78292FED96B}"/>
              </a:ext>
            </a:extLst>
          </p:cNvPr>
          <p:cNvSpPr txBox="1"/>
          <p:nvPr/>
        </p:nvSpPr>
        <p:spPr>
          <a:xfrm>
            <a:off x="3117432" y="228685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Helvetica" pitchFamily="2" charset="0"/>
              </a:rPr>
              <a:t>c</a:t>
            </a:r>
            <a:endParaRPr lang="en-US" sz="3200" b="1" dirty="0">
              <a:latin typeface="Helvetica" pitchFamily="2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8DBDBCF-68EA-549B-DBF4-ECCD82A889CD}"/>
              </a:ext>
            </a:extLst>
          </p:cNvPr>
          <p:cNvSpPr txBox="1"/>
          <p:nvPr/>
        </p:nvSpPr>
        <p:spPr>
          <a:xfrm>
            <a:off x="5433814" y="2289324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Helvetica" pitchFamily="2" charset="0"/>
              </a:rPr>
              <a:t>d</a:t>
            </a:r>
            <a:endParaRPr lang="en-US" sz="3200" b="1" dirty="0">
              <a:latin typeface="Helvetica" pitchFamily="2" charset="0"/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46FA5F2-8335-FCBB-32CF-2F6C5B1B6308}"/>
              </a:ext>
            </a:extLst>
          </p:cNvPr>
          <p:cNvGrpSpPr/>
          <p:nvPr/>
        </p:nvGrpSpPr>
        <p:grpSpPr>
          <a:xfrm>
            <a:off x="5714892" y="2600187"/>
            <a:ext cx="1840394" cy="1377161"/>
            <a:chOff x="5796176" y="2600188"/>
            <a:chExt cx="1759109" cy="1316336"/>
          </a:xfrm>
        </p:grpSpPr>
        <p:pic>
          <p:nvPicPr>
            <p:cNvPr id="83" name="Picture 82" descr="A close-up of a purple cell&#10;&#10;AI-generated content may be incorrect.">
              <a:extLst>
                <a:ext uri="{FF2B5EF4-FFF2-40B4-BE49-F238E27FC236}">
                  <a16:creationId xmlns:a16="http://schemas.microsoft.com/office/drawing/2014/main" id="{96B49C06-76D6-0196-F2E9-1D3CF3E11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 flipH="1">
              <a:off x="5796176" y="2600188"/>
              <a:ext cx="1759109" cy="1316336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11A23D13-E9A7-0B5B-D677-64C69AEAED78}"/>
                </a:ext>
              </a:extLst>
            </p:cNvPr>
            <p:cNvSpPr txBox="1"/>
            <p:nvPr/>
          </p:nvSpPr>
          <p:spPr>
            <a:xfrm>
              <a:off x="5800783" y="3580580"/>
              <a:ext cx="613188" cy="3236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n w="0"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Male</a:t>
              </a: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4B94710A-1D7C-D325-F979-B1EB03B7BAED}"/>
              </a:ext>
            </a:extLst>
          </p:cNvPr>
          <p:cNvGrpSpPr/>
          <p:nvPr/>
        </p:nvGrpSpPr>
        <p:grpSpPr>
          <a:xfrm>
            <a:off x="5712753" y="4125403"/>
            <a:ext cx="1853632" cy="1358808"/>
            <a:chOff x="5805579" y="3712719"/>
            <a:chExt cx="1792560" cy="1352802"/>
          </a:xfrm>
        </p:grpSpPr>
        <p:pic>
          <p:nvPicPr>
            <p:cNvPr id="80" name="Picture 46" descr="A picture containing purple&#10;&#10;Description automatically generated">
              <a:extLst>
                <a:ext uri="{FF2B5EF4-FFF2-40B4-BE49-F238E27FC236}">
                  <a16:creationId xmlns:a16="http://schemas.microsoft.com/office/drawing/2014/main" id="{A96F80F5-9DFB-5361-A5A2-93631A63A665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883" r="772"/>
            <a:stretch/>
          </p:blipFill>
          <p:spPr bwMode="auto">
            <a:xfrm>
              <a:off x="5805579" y="3712719"/>
              <a:ext cx="1755464" cy="13167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1DAE5511-C1A6-B08F-3753-0BC62F90F75E}"/>
                </a:ext>
              </a:extLst>
            </p:cNvPr>
            <p:cNvSpPr txBox="1"/>
            <p:nvPr/>
          </p:nvSpPr>
          <p:spPr>
            <a:xfrm>
              <a:off x="5812507" y="4728463"/>
              <a:ext cx="1785632" cy="3370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n w="0"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Late Intermediate</a:t>
              </a: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8C6ADA01-B540-1F72-03C2-0CF141E09129}"/>
              </a:ext>
            </a:extLst>
          </p:cNvPr>
          <p:cNvGrpSpPr/>
          <p:nvPr/>
        </p:nvGrpSpPr>
        <p:grpSpPr>
          <a:xfrm>
            <a:off x="5759544" y="5566791"/>
            <a:ext cx="1768480" cy="1336425"/>
            <a:chOff x="5805487" y="5024956"/>
            <a:chExt cx="1755648" cy="1316736"/>
          </a:xfrm>
        </p:grpSpPr>
        <p:pic>
          <p:nvPicPr>
            <p:cNvPr id="79" name="Google Shape;143;p21" descr="A picture containing purple, plant, close&#10;&#10;Description automatically generated">
              <a:extLst>
                <a:ext uri="{FF2B5EF4-FFF2-40B4-BE49-F238E27FC236}">
                  <a16:creationId xmlns:a16="http://schemas.microsoft.com/office/drawing/2014/main" id="{7CEBEA3F-29CF-E331-C6DB-4849EEAF82F5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0">
              <a:alphaModFix/>
            </a:blip>
            <a:srcRect l="-791" r="109"/>
            <a:stretch/>
          </p:blipFill>
          <p:spPr>
            <a:xfrm>
              <a:off x="5805487" y="5024956"/>
              <a:ext cx="1755648" cy="13167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B647160C-D8ED-81B4-E43E-687AED6262BA}"/>
                </a:ext>
              </a:extLst>
            </p:cNvPr>
            <p:cNvSpPr txBox="1"/>
            <p:nvPr/>
          </p:nvSpPr>
          <p:spPr>
            <a:xfrm>
              <a:off x="5809808" y="5996473"/>
              <a:ext cx="872391" cy="3335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n w="0"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Female</a:t>
              </a:r>
              <a:endParaRPr lang="en-US" sz="1400" b="1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9120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7D168F5B-CFDC-F76E-EC8D-278886D1639D}"/>
              </a:ext>
            </a:extLst>
          </p:cNvPr>
          <p:cNvGrpSpPr/>
          <p:nvPr/>
        </p:nvGrpSpPr>
        <p:grpSpPr>
          <a:xfrm>
            <a:off x="2331683" y="3552966"/>
            <a:ext cx="537955" cy="609682"/>
            <a:chOff x="2686050" y="2818049"/>
            <a:chExt cx="537955" cy="60968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A6405AC-535B-32AC-1DBE-4017A6C5EF42}"/>
                </a:ext>
              </a:extLst>
            </p:cNvPr>
            <p:cNvSpPr txBox="1"/>
            <p:nvPr/>
          </p:nvSpPr>
          <p:spPr>
            <a:xfrm>
              <a:off x="2686050" y="2904511"/>
              <a:ext cx="51273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/>
                <a:t>♀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AFD434B-7916-EE5D-B1C7-E3776C3DFA47}"/>
                </a:ext>
              </a:extLst>
            </p:cNvPr>
            <p:cNvSpPr txBox="1"/>
            <p:nvPr/>
          </p:nvSpPr>
          <p:spPr>
            <a:xfrm>
              <a:off x="2711274" y="2818049"/>
              <a:ext cx="51273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Google Sans"/>
                </a:rPr>
                <a:t>♂</a:t>
              </a:r>
              <a:endParaRPr lang="en-US" sz="2800" dirty="0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333B673E-62A9-5FFB-747C-F36184952070}"/>
              </a:ext>
            </a:extLst>
          </p:cNvPr>
          <p:cNvSpPr txBox="1"/>
          <p:nvPr/>
        </p:nvSpPr>
        <p:spPr>
          <a:xfrm>
            <a:off x="3076396" y="4063768"/>
            <a:ext cx="2891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Maybe we use this symbol?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8FBDB6-456B-217F-AABB-1B2EB6D323A8}"/>
              </a:ext>
            </a:extLst>
          </p:cNvPr>
          <p:cNvSpPr txBox="1"/>
          <p:nvPr/>
        </p:nvSpPr>
        <p:spPr>
          <a:xfrm>
            <a:off x="4665699" y="1930739"/>
            <a:ext cx="1970293" cy="230832"/>
          </a:xfrm>
          <a:prstGeom prst="rect">
            <a:avLst/>
          </a:prstGeom>
          <a:gradFill>
            <a:gsLst>
              <a:gs pos="0">
                <a:srgbClr val="D10712"/>
              </a:gs>
              <a:gs pos="49500">
                <a:schemeClr val="bg1"/>
              </a:gs>
              <a:gs pos="99000">
                <a:srgbClr val="D10712"/>
              </a:gs>
            </a:gsLst>
            <a:lin ang="0" scaled="0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Oogenesis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A091FAB-C9FB-6EB7-FB85-7F8A89D58AB6}"/>
              </a:ext>
            </a:extLst>
          </p:cNvPr>
          <p:cNvSpPr txBox="1"/>
          <p:nvPr/>
        </p:nvSpPr>
        <p:spPr>
          <a:xfrm>
            <a:off x="5793329" y="2164066"/>
            <a:ext cx="840979" cy="230832"/>
          </a:xfrm>
          <a:prstGeom prst="rect">
            <a:avLst/>
          </a:prstGeom>
          <a:gradFill>
            <a:gsLst>
              <a:gs pos="0">
                <a:srgbClr val="FF0000"/>
              </a:gs>
              <a:gs pos="49500">
                <a:schemeClr val="bg1"/>
              </a:gs>
              <a:gs pos="99000">
                <a:srgbClr val="FF0000"/>
              </a:gs>
            </a:gsLst>
            <a:lin ang="0" scaled="0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↓ </a:t>
            </a:r>
            <a:r>
              <a:rPr lang="en-US" sz="900" dirty="0"/>
              <a:t>Parenting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115B88-5142-6D3C-BA00-60415958F0E0}"/>
              </a:ext>
            </a:extLst>
          </p:cNvPr>
          <p:cNvSpPr txBox="1"/>
          <p:nvPr/>
        </p:nvSpPr>
        <p:spPr>
          <a:xfrm>
            <a:off x="1151341" y="1695024"/>
            <a:ext cx="2742327" cy="230832"/>
          </a:xfrm>
          <a:prstGeom prst="rect">
            <a:avLst/>
          </a:prstGeom>
          <a:gradFill>
            <a:gsLst>
              <a:gs pos="0">
                <a:srgbClr val="002060"/>
              </a:gs>
              <a:gs pos="49500">
                <a:schemeClr val="bg1"/>
              </a:gs>
              <a:gs pos="99000">
                <a:srgbClr val="002060"/>
              </a:gs>
            </a:gsLst>
            <a:lin ang="0" scaled="0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Growth, Testicular Degeneration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7CA997-1A0D-9101-2E7A-A3132BD8C30B}"/>
              </a:ext>
            </a:extLst>
          </p:cNvPr>
          <p:cNvCxnSpPr>
            <a:cxnSpLocks/>
          </p:cNvCxnSpPr>
          <p:nvPr/>
        </p:nvCxnSpPr>
        <p:spPr>
          <a:xfrm>
            <a:off x="1099335" y="1358644"/>
            <a:ext cx="5544353" cy="9047"/>
          </a:xfrm>
          <a:prstGeom prst="line">
            <a:avLst/>
          </a:prstGeom>
          <a:ln w="88900">
            <a:gradFill>
              <a:gsLst>
                <a:gs pos="0">
                  <a:srgbClr val="002060">
                    <a:lumMod val="100000"/>
                  </a:srgbClr>
                </a:gs>
                <a:gs pos="99000">
                  <a:srgbClr val="FF0000"/>
                </a:gs>
              </a:gsLst>
              <a:lin ang="216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904A903E-1C6A-E90F-8BD8-703FE99312CE}"/>
              </a:ext>
            </a:extLst>
          </p:cNvPr>
          <p:cNvSpPr>
            <a:spLocks noChangeAspect="1"/>
          </p:cNvSpPr>
          <p:nvPr/>
        </p:nvSpPr>
        <p:spPr>
          <a:xfrm>
            <a:off x="991944" y="1263783"/>
            <a:ext cx="182880" cy="1828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241541-2757-050D-F12C-240143E0A7CD}"/>
              </a:ext>
            </a:extLst>
          </p:cNvPr>
          <p:cNvSpPr>
            <a:spLocks noChangeAspect="1"/>
          </p:cNvSpPr>
          <p:nvPr/>
        </p:nvSpPr>
        <p:spPr>
          <a:xfrm>
            <a:off x="6506918" y="1270089"/>
            <a:ext cx="182880" cy="1828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88C5875-94AE-3C09-2AAA-AF068220CF6F}"/>
              </a:ext>
            </a:extLst>
          </p:cNvPr>
          <p:cNvSpPr>
            <a:spLocks noChangeAspect="1"/>
          </p:cNvSpPr>
          <p:nvPr/>
        </p:nvSpPr>
        <p:spPr>
          <a:xfrm>
            <a:off x="3802228" y="1261913"/>
            <a:ext cx="182880" cy="182880"/>
          </a:xfrm>
          <a:prstGeom prst="ellipse">
            <a:avLst/>
          </a:prstGeom>
          <a:solidFill>
            <a:schemeClr val="tx1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24A113-1234-9BFE-0ACB-FA784067E5EC}"/>
              </a:ext>
            </a:extLst>
          </p:cNvPr>
          <p:cNvSpPr txBox="1"/>
          <p:nvPr/>
        </p:nvSpPr>
        <p:spPr>
          <a:xfrm>
            <a:off x="699621" y="991263"/>
            <a:ext cx="710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Pairing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64E215-55D8-83DD-3804-4BEAFA5988D9}"/>
              </a:ext>
            </a:extLst>
          </p:cNvPr>
          <p:cNvSpPr txBox="1"/>
          <p:nvPr/>
        </p:nvSpPr>
        <p:spPr>
          <a:xfrm>
            <a:off x="2071899" y="1008968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6 Months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1A5F294-2399-54B3-5ADD-354F7EFD516F}"/>
              </a:ext>
            </a:extLst>
          </p:cNvPr>
          <p:cNvGrpSpPr/>
          <p:nvPr/>
        </p:nvGrpSpPr>
        <p:grpSpPr>
          <a:xfrm>
            <a:off x="554433" y="19887"/>
            <a:ext cx="6634155" cy="1061858"/>
            <a:chOff x="431896" y="1117290"/>
            <a:chExt cx="6634155" cy="1061858"/>
          </a:xfrm>
        </p:grpSpPr>
        <p:pic>
          <p:nvPicPr>
            <p:cNvPr id="14" name="Picture 2" descr="Clownfish - Free vector clipart images on creazilla.com">
              <a:extLst>
                <a:ext uri="{FF2B5EF4-FFF2-40B4-BE49-F238E27FC236}">
                  <a16:creationId xmlns:a16="http://schemas.microsoft.com/office/drawing/2014/main" id="{1F356D1C-3D35-7C56-E6F2-0204AD87CD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77609" y="1823745"/>
              <a:ext cx="680196" cy="3554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 descr="Clownfish - Free vector clipart images on creazilla.com">
              <a:extLst>
                <a:ext uri="{FF2B5EF4-FFF2-40B4-BE49-F238E27FC236}">
                  <a16:creationId xmlns:a16="http://schemas.microsoft.com/office/drawing/2014/main" id="{7C58EABD-9CA3-2AF8-3DAC-DB45E5C388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57120" y="1578001"/>
              <a:ext cx="741320" cy="387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014CABB-3F50-52BA-80C7-B946FE91CD78}"/>
                </a:ext>
              </a:extLst>
            </p:cNvPr>
            <p:cNvSpPr txBox="1"/>
            <p:nvPr/>
          </p:nvSpPr>
          <p:spPr>
            <a:xfrm>
              <a:off x="1063423" y="1430378"/>
              <a:ext cx="51273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Google Sans"/>
                </a:rPr>
                <a:t>♂</a:t>
              </a:r>
              <a:endParaRPr lang="en-US" sz="28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5E0681-E509-4777-A700-C92E5334552F}"/>
                </a:ext>
              </a:extLst>
            </p:cNvPr>
            <p:cNvSpPr txBox="1"/>
            <p:nvPr/>
          </p:nvSpPr>
          <p:spPr>
            <a:xfrm>
              <a:off x="431896" y="1248451"/>
              <a:ext cx="51273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Google Sans"/>
                </a:rPr>
                <a:t>♂</a:t>
              </a:r>
              <a:endParaRPr lang="en-US" sz="2800" dirty="0"/>
            </a:p>
          </p:txBody>
        </p:sp>
        <p:pic>
          <p:nvPicPr>
            <p:cNvPr id="28" name="Picture 2" descr="Clownfish - Free vector clipart images on creazilla.com">
              <a:extLst>
                <a:ext uri="{FF2B5EF4-FFF2-40B4-BE49-F238E27FC236}">
                  <a16:creationId xmlns:a16="http://schemas.microsoft.com/office/drawing/2014/main" id="{F65D8BFD-DAD9-7647-F9FF-9F221E7F31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637619" y="1791807"/>
              <a:ext cx="676656" cy="3535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" descr="Clownfish - Free vector clipart images on creazilla.com">
              <a:extLst>
                <a:ext uri="{FF2B5EF4-FFF2-40B4-BE49-F238E27FC236}">
                  <a16:creationId xmlns:a16="http://schemas.microsoft.com/office/drawing/2014/main" id="{1DC6F997-7C39-B8DA-7C24-03F5AD130F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217130" y="1525929"/>
              <a:ext cx="840979" cy="439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26B1D93-6A90-5910-2CED-303E90A21CA9}"/>
                </a:ext>
              </a:extLst>
            </p:cNvPr>
            <p:cNvSpPr txBox="1"/>
            <p:nvPr/>
          </p:nvSpPr>
          <p:spPr>
            <a:xfrm>
              <a:off x="3984776" y="1376368"/>
              <a:ext cx="51273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IP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4B11353-7632-34E5-D085-9AFE25FB0305}"/>
                </a:ext>
              </a:extLst>
            </p:cNvPr>
            <p:cNvSpPr txBox="1"/>
            <p:nvPr/>
          </p:nvSpPr>
          <p:spPr>
            <a:xfrm>
              <a:off x="3215547" y="1169891"/>
              <a:ext cx="51273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  <p:pic>
          <p:nvPicPr>
            <p:cNvPr id="32" name="Picture 2" descr="Clownfish - Free vector clipart images on creazilla.com">
              <a:extLst>
                <a:ext uri="{FF2B5EF4-FFF2-40B4-BE49-F238E27FC236}">
                  <a16:creationId xmlns:a16="http://schemas.microsoft.com/office/drawing/2014/main" id="{50595763-8F1E-6DE5-7095-E3EB873E8C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389395" y="1777647"/>
              <a:ext cx="676656" cy="3535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2" descr="Clownfish - Free vector clipart images on creazilla.com">
              <a:extLst>
                <a:ext uri="{FF2B5EF4-FFF2-40B4-BE49-F238E27FC236}">
                  <a16:creationId xmlns:a16="http://schemas.microsoft.com/office/drawing/2014/main" id="{7EC39607-69F1-51B7-6860-5DA64E23E6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631025" y="1464428"/>
              <a:ext cx="1050028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09C12EB-4868-33A2-95E9-B2FC0053EFDE}"/>
                </a:ext>
              </a:extLst>
            </p:cNvPr>
            <p:cNvSpPr txBox="1"/>
            <p:nvPr/>
          </p:nvSpPr>
          <p:spPr>
            <a:xfrm>
              <a:off x="6553320" y="1399752"/>
              <a:ext cx="51273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Google Sans"/>
                </a:rPr>
                <a:t>♂</a:t>
              </a:r>
              <a:endParaRPr lang="en-US" sz="28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A0A6A03-53C1-5A90-2A2A-4826C9E36EAC}"/>
                </a:ext>
              </a:extLst>
            </p:cNvPr>
            <p:cNvSpPr txBox="1"/>
            <p:nvPr/>
          </p:nvSpPr>
          <p:spPr>
            <a:xfrm>
              <a:off x="5814257" y="1117290"/>
              <a:ext cx="51273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/>
                <a:t>♀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299BE56B-80DE-430D-9A77-96A97F7ED748}"/>
              </a:ext>
            </a:extLst>
          </p:cNvPr>
          <p:cNvSpPr txBox="1"/>
          <p:nvPr/>
        </p:nvSpPr>
        <p:spPr>
          <a:xfrm>
            <a:off x="4815518" y="1003978"/>
            <a:ext cx="10342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6 Months 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BC3659-2446-0A91-7606-B8C936B8F0C6}"/>
              </a:ext>
            </a:extLst>
          </p:cNvPr>
          <p:cNvSpPr txBox="1"/>
          <p:nvPr/>
        </p:nvSpPr>
        <p:spPr>
          <a:xfrm>
            <a:off x="3447871" y="1001649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Sampling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CE9E44C-9DA1-27F5-E8DF-5688011B769E}"/>
              </a:ext>
            </a:extLst>
          </p:cNvPr>
          <p:cNvSpPr txBox="1"/>
          <p:nvPr/>
        </p:nvSpPr>
        <p:spPr>
          <a:xfrm>
            <a:off x="6044218" y="999867"/>
            <a:ext cx="10943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Sex Change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5F87DA-3A6C-375D-D136-2988A43BD017}"/>
              </a:ext>
            </a:extLst>
          </p:cNvPr>
          <p:cNvSpPr txBox="1"/>
          <p:nvPr/>
        </p:nvSpPr>
        <p:spPr>
          <a:xfrm>
            <a:off x="2682439" y="2166399"/>
            <a:ext cx="1211229" cy="230832"/>
          </a:xfrm>
          <a:prstGeom prst="rect">
            <a:avLst/>
          </a:prstGeom>
          <a:gradFill>
            <a:gsLst>
              <a:gs pos="0">
                <a:srgbClr val="5C143D"/>
              </a:gs>
              <a:gs pos="49500">
                <a:schemeClr val="bg1"/>
              </a:gs>
              <a:gs pos="99000">
                <a:srgbClr val="5C143D"/>
              </a:gs>
            </a:gsLst>
            <a:lin ang="0" scaled="0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↑ Aggression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0D7F88-635C-6613-861E-D96C3C120BBB}"/>
              </a:ext>
            </a:extLst>
          </p:cNvPr>
          <p:cNvSpPr txBox="1">
            <a:spLocks noChangeAspect="1"/>
          </p:cNvSpPr>
          <p:nvPr/>
        </p:nvSpPr>
        <p:spPr>
          <a:xfrm>
            <a:off x="1144075" y="1465440"/>
            <a:ext cx="5491917" cy="228600"/>
          </a:xfrm>
          <a:prstGeom prst="rect">
            <a:avLst/>
          </a:prstGeom>
          <a:gradFill>
            <a:gsLst>
              <a:gs pos="0">
                <a:srgbClr val="80102E"/>
              </a:gs>
              <a:gs pos="49500">
                <a:schemeClr val="bg1"/>
              </a:gs>
              <a:gs pos="98000">
                <a:srgbClr val="80102E"/>
              </a:gs>
            </a:gsLst>
            <a:lin ang="0" scaled="0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↑ Neurogenesis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26D149-8ED8-875C-8F96-DE9A4158C903}"/>
              </a:ext>
            </a:extLst>
          </p:cNvPr>
          <p:cNvSpPr txBox="1"/>
          <p:nvPr/>
        </p:nvSpPr>
        <p:spPr>
          <a:xfrm>
            <a:off x="3886200" y="1695136"/>
            <a:ext cx="2745277" cy="230832"/>
          </a:xfrm>
          <a:prstGeom prst="rect">
            <a:avLst/>
          </a:prstGeom>
          <a:gradFill>
            <a:gsLst>
              <a:gs pos="0">
                <a:srgbClr val="BE0718"/>
              </a:gs>
              <a:gs pos="49500">
                <a:schemeClr val="bg1"/>
              </a:gs>
              <a:gs pos="99000">
                <a:srgbClr val="BE0718"/>
              </a:gs>
            </a:gsLst>
            <a:lin ang="0" scaled="0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↓ </a:t>
            </a:r>
            <a:r>
              <a:rPr lang="en-US" sz="900" dirty="0"/>
              <a:t>11-KT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14162D-62D3-4C2D-2A4A-88BE8574C9B5}"/>
              </a:ext>
            </a:extLst>
          </p:cNvPr>
          <p:cNvSpPr txBox="1"/>
          <p:nvPr/>
        </p:nvSpPr>
        <p:spPr>
          <a:xfrm>
            <a:off x="2682439" y="1929449"/>
            <a:ext cx="1983260" cy="230832"/>
          </a:xfrm>
          <a:prstGeom prst="rect">
            <a:avLst/>
          </a:prstGeom>
          <a:gradFill>
            <a:gsLst>
              <a:gs pos="0">
                <a:srgbClr val="741033"/>
              </a:gs>
              <a:gs pos="49500">
                <a:schemeClr val="bg1"/>
              </a:gs>
              <a:gs pos="99000">
                <a:srgbClr val="741033"/>
              </a:gs>
            </a:gsLst>
            <a:lin ang="0" scaled="0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↑ E2</a:t>
            </a:r>
          </a:p>
        </p:txBody>
      </p:sp>
    </p:spTree>
    <p:extLst>
      <p:ext uri="{BB962C8B-B14F-4D97-AF65-F5344CB8AC3E}">
        <p14:creationId xmlns:p14="http://schemas.microsoft.com/office/powerpoint/2010/main" val="1782627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976</TotalTime>
  <Words>78</Words>
  <Application>Microsoft Macintosh PowerPoint</Application>
  <PresentationFormat>Custom</PresentationFormat>
  <Paragraphs>48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Google Sans</vt:lpstr>
      <vt:lpstr>Helvetica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Graham, Gabe</dc:creator>
  <cp:lastModifiedBy>Graham, Gabe</cp:lastModifiedBy>
  <cp:revision>6</cp:revision>
  <dcterms:created xsi:type="dcterms:W3CDTF">2025-12-09T01:18:46Z</dcterms:created>
  <dcterms:modified xsi:type="dcterms:W3CDTF">2025-12-09T17:35:43Z</dcterms:modified>
</cp:coreProperties>
</file>